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8" name="Rounded Rectangle 297"/>
          <p:cNvSpPr/>
          <p:nvPr/>
        </p:nvSpPr>
        <p:spPr>
          <a:xfrm>
            <a:off x="6414516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094476" y="5897880"/>
            <a:ext cx="6094476" cy="96012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094476" y="3429000"/>
            <a:ext cx="6094476" cy="2468880"/>
          </a:xfrm>
          <a:prstGeom prst="rect">
            <a:avLst/>
          </a:prstGeom>
          <a:solidFill>
            <a:srgbClr val="D8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320040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0" y="5897880"/>
            <a:ext cx="6094476" cy="96012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0" y="3429000"/>
            <a:ext cx="6094476" cy="2468880"/>
          </a:xfrm>
          <a:prstGeom prst="rect">
            <a:avLst/>
          </a:prstGeom>
          <a:solidFill>
            <a:srgbClr val="A8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414516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94476" y="2468880"/>
            <a:ext cx="6094476" cy="96012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4476" y="0"/>
            <a:ext cx="6094476" cy="2468880"/>
          </a:xfrm>
          <a:prstGeom prst="rect">
            <a:avLst/>
          </a:prstGeom>
          <a:solidFill>
            <a:srgbClr val="A8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6094476" cy="96012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468880"/>
          </a:xfrm>
          <a:prstGeom prst="rect">
            <a:avLst/>
          </a:prstGeom>
          <a:solidFill>
            <a:srgbClr val="D8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0811" y="45720"/>
            <a:ext cx="365760" cy="36576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82290" y="20116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54275" y="42289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8244" y="42289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70228" y="20116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8243" y="-20562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4275" y="-20562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21176" y="857250"/>
            <a:ext cx="80467" cy="352044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9774" y="605790"/>
            <a:ext cx="563270" cy="553212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0709" y="454914"/>
            <a:ext cx="452628" cy="422452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171" y="1645920"/>
            <a:ext cx="653796" cy="356616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65884" y="1348740"/>
            <a:ext cx="142646" cy="356616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0222" y="1194207"/>
            <a:ext cx="261518" cy="213969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89659" y="1122884"/>
            <a:ext cx="95097" cy="142646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9268" y="1907438"/>
            <a:ext cx="71323" cy="26151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2479" y="1907438"/>
            <a:ext cx="71323" cy="26151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65884" y="1907438"/>
            <a:ext cx="71323" cy="26151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095" y="1907438"/>
            <a:ext cx="71323" cy="26151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4796" y="754380"/>
            <a:ext cx="102412" cy="58521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05536" y="725120"/>
            <a:ext cx="73152" cy="43891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93317" y="725120"/>
            <a:ext cx="73152" cy="43891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91440" y="1885950"/>
            <a:ext cx="1371600" cy="365760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2514" y="1783080"/>
            <a:ext cx="457200" cy="32004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475" y="256489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4583" y="248259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2638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0420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6529" y="246065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529" y="254843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7502" y="251551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22094" y="256489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078202" y="248259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056257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44039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00148" y="246065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00148" y="254843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111121" y="251551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45713" y="256489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01821" y="248259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79876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67658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23767" y="246065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23767" y="254843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34740" y="251551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69332" y="256489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25440" y="248259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03495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91277" y="250454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47386" y="246065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47386" y="254843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58359" y="251551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立春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Start of Spring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春回大地，万物复苏。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Spring begins. It gets warmer.</a:t>
            </a:r>
          </a:p>
        </p:txBody>
      </p:sp>
      <p:sp>
        <p:nvSpPr>
          <p:cNvPr id="63" name="Oval 62"/>
          <p:cNvSpPr/>
          <p:nvPr/>
        </p:nvSpPr>
        <p:spPr>
          <a:xfrm>
            <a:off x="320040" y="3063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立春，标志着春天的开始，气温逐渐回升。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76105" y="45720"/>
            <a:ext cx="576072" cy="256032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446437" y="-2286"/>
            <a:ext cx="452628" cy="224028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14866" y="3657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36786" y="3657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58706" y="3657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80626" y="3657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214866" y="5943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36786" y="5943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458706" y="5943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80626" y="5943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14866" y="8229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336786" y="8229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58706" y="8229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80626" y="82296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055885" y="107442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037597" y="101955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37597" y="1147572"/>
            <a:ext cx="237744" cy="292608"/>
          </a:xfrm>
          <a:prstGeom prst="rect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019309" y="1385316"/>
            <a:ext cx="274320" cy="109728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65029" y="1257300"/>
            <a:ext cx="45720" cy="128016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202189" y="1257300"/>
            <a:ext cx="45720" cy="128016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5029" y="144018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83901" y="144018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110749" y="116586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174757" y="116586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129037" y="120243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365925" y="725577"/>
            <a:ext cx="526694" cy="307238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07327" y="857250"/>
            <a:ext cx="43891" cy="38404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836990" y="2228850"/>
            <a:ext cx="263347" cy="18105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886367" y="2130095"/>
            <a:ext cx="164592" cy="131673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902826" y="2097177"/>
            <a:ext cx="65836" cy="65836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968663" y="2097177"/>
            <a:ext cx="65836" cy="65836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919286" y="2113636"/>
            <a:ext cx="32918" cy="3291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985122" y="2113636"/>
            <a:ext cx="32918" cy="3291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313371" y="2468880"/>
            <a:ext cx="228600" cy="91440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36990" y="2468880"/>
            <a:ext cx="228600" cy="91440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665333" y="2468880"/>
            <a:ext cx="228600" cy="91440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33636" y="16550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382430" y="1559053"/>
            <a:ext cx="128014" cy="128014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356827" y="1584656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459239" y="1584656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408033" y="1533450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408033" y="1635863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420834" y="15974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652532" y="16550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01326" y="1559053"/>
            <a:ext cx="128014" cy="128014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575723" y="1584656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678135" y="1584656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626929" y="1533450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626929" y="1635863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639730" y="15974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1566703" y="16550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515497" y="1559053"/>
            <a:ext cx="128014" cy="128014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489894" y="1584656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592306" y="1584656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541100" y="1533450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541100" y="1635863"/>
            <a:ext cx="76808" cy="7680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553901" y="15974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121908" y="2468880"/>
            <a:ext cx="6039612" cy="13716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2190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48766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342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21918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58494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95070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31646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68222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4798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41374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77950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14526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51102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87678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24254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60830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974068" y="241401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14516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14516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雨水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14516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4516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Rain Water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14516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降雨增多，润物无声。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14516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More rain, everything grows.</a:t>
            </a:r>
          </a:p>
        </p:txBody>
      </p:sp>
      <p:sp>
        <p:nvSpPr>
          <p:cNvPr id="154" name="Oval 153"/>
          <p:cNvSpPr/>
          <p:nvPr/>
        </p:nvSpPr>
        <p:spPr>
          <a:xfrm>
            <a:off x="6463893" y="3096158"/>
            <a:ext cx="65836" cy="98755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652260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雨水，表示降水开始，雨量逐渐增多。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635758" y="3405226"/>
            <a:ext cx="640080" cy="277977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047238" y="3353105"/>
            <a:ext cx="502920" cy="243230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351961" y="3749040"/>
            <a:ext cx="82296" cy="205740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302584" y="3913632"/>
            <a:ext cx="164592" cy="65836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417797" y="3930091"/>
            <a:ext cx="65836" cy="148132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31337" y="5417820"/>
            <a:ext cx="321868" cy="263347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33749" y="5300777"/>
            <a:ext cx="117043" cy="117043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804489" y="5476341"/>
            <a:ext cx="58521" cy="58521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06901" y="5476341"/>
            <a:ext cx="58521" cy="58521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48380" y="5564124"/>
            <a:ext cx="58521" cy="58521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801035" y="4869180"/>
            <a:ext cx="29260" cy="146304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742514" y="4883810"/>
            <a:ext cx="7315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742514" y="4942332"/>
            <a:ext cx="58521" cy="7315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815666" y="4883810"/>
            <a:ext cx="7315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830296" y="4942332"/>
            <a:ext cx="58521" cy="7315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266133" y="5486400"/>
            <a:ext cx="292608" cy="201168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320997" y="5376672"/>
            <a:ext cx="182880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339285" y="5340096"/>
            <a:ext cx="73152" cy="7315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412437" y="5340096"/>
            <a:ext cx="73152" cy="7315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357573" y="5358384"/>
            <a:ext cx="36576" cy="36576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430725" y="5358384"/>
            <a:ext cx="36576" cy="36576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537939" y="4629150"/>
            <a:ext cx="65836" cy="28803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340429" y="4423410"/>
            <a:ext cx="460856" cy="452628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472102" y="4299966"/>
            <a:ext cx="370332" cy="34564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33373" y="6000750"/>
            <a:ext cx="25603" cy="128015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914171" y="5949544"/>
            <a:ext cx="76809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26972" y="5923941"/>
            <a:ext cx="64007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456992" y="6000750"/>
            <a:ext cx="25603" cy="128015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37790" y="5949544"/>
            <a:ext cx="76809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450591" y="5923941"/>
            <a:ext cx="64007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980611" y="6000750"/>
            <a:ext cx="25603" cy="128015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961409" y="5949544"/>
            <a:ext cx="76809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974210" y="5923941"/>
            <a:ext cx="64007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99506" y="6000750"/>
            <a:ext cx="25603" cy="128015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180304" y="5949544"/>
            <a:ext cx="76809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5193105" y="5923941"/>
            <a:ext cx="64007" cy="5120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20040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20040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惊蛰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20040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320040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Awakening of Insects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20040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春雷惊蛰，虫鸣渐起。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20040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Thunder wakes sleeping insects.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77647" y="6492240"/>
            <a:ext cx="49377" cy="164592"/>
          </a:xfrm>
          <a:prstGeom prst="rect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57784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惊蛰，春雷乍动，惊醒蛰伏的昆虫和动物。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500741" y="3447288"/>
            <a:ext cx="329184" cy="32918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871073" y="3587192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755859" y="3786749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525431" y="3786749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410217" y="3587192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525431" y="3387635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755859" y="3387635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008647" y="470916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990359" y="465429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990359" y="4782312"/>
            <a:ext cx="237744" cy="292608"/>
          </a:xfrm>
          <a:prstGeom prst="rect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972071" y="5020056"/>
            <a:ext cx="274320" cy="109728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017791" y="4892040"/>
            <a:ext cx="45720" cy="128016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154951" y="4892040"/>
            <a:ext cx="45720" cy="128016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017791" y="507492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136663" y="507492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063511" y="480060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7127519" y="480060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081799" y="483717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825103" y="509320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8777554" y="5004054"/>
            <a:ext cx="118872" cy="118872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8753781" y="5027829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8848877" y="5027829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801329" y="4980281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8801329" y="5075378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813216" y="503971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678329" y="509320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630780" y="5004054"/>
            <a:ext cx="118872" cy="118872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607007" y="5027829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702103" y="5027829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654555" y="4980281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654555" y="5075378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66442" y="503971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531556" y="509320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484007" y="5004054"/>
            <a:ext cx="118872" cy="118872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460234" y="5027829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555330" y="5027829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507782" y="4980281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507782" y="5075378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519669" y="503971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1384783" y="509320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37234" y="5004054"/>
            <a:ext cx="118872" cy="118872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313461" y="5027829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408557" y="5027829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361009" y="4980281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361009" y="5075378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372896" y="503971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825103" y="536752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8777554" y="5278374"/>
            <a:ext cx="118872" cy="118872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753781" y="5302149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8848877" y="5302149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8801329" y="5254601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801329" y="5349698"/>
            <a:ext cx="71323" cy="71323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8813216" y="531403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678329" y="536752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9630780" y="5278374"/>
            <a:ext cx="118872" cy="118872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9607007" y="5302149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9702103" y="5302149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9654555" y="5254601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9654555" y="5349698"/>
            <a:ext cx="71323" cy="71323"/>
          </a:xfrm>
          <a:prstGeom prst="ellipse">
            <a:avLst/>
          </a:prstGeom>
          <a:solidFill>
            <a:srgbClr val="F0D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666442" y="531403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0531556" y="536752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0484007" y="5278374"/>
            <a:ext cx="118872" cy="118872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460234" y="5302149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555330" y="5302149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507782" y="5254601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0507782" y="5349698"/>
            <a:ext cx="71323" cy="71323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0519669" y="531403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384783" y="5367528"/>
            <a:ext cx="23774" cy="14859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337234" y="5278374"/>
            <a:ext cx="118872" cy="118872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313461" y="5302149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08557" y="5302149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361009" y="5254601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361009" y="5349698"/>
            <a:ext cx="71323" cy="71323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372896" y="5314036"/>
            <a:ext cx="47548" cy="475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325986" y="4629150"/>
            <a:ext cx="25603" cy="128015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1274780" y="4641951"/>
            <a:ext cx="64007" cy="76809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1274780" y="4693157"/>
            <a:ext cx="51206" cy="6400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1338787" y="4641951"/>
            <a:ext cx="64007" cy="76809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351589" y="4693157"/>
            <a:ext cx="51206" cy="6400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1091946" y="3657600"/>
            <a:ext cx="27432" cy="320040"/>
          </a:xfrm>
          <a:prstGeom prst="rect">
            <a:avLst/>
          </a:prstGeom>
          <a:solidFill>
            <a:srgbClr val="4A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863346" y="3703320"/>
            <a:ext cx="484632" cy="18288"/>
          </a:xfrm>
          <a:prstGeom prst="rect">
            <a:avLst/>
          </a:prstGeom>
          <a:solidFill>
            <a:srgbClr val="4A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0817626" y="3611880"/>
            <a:ext cx="137160" cy="9144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1229106" y="3611880"/>
            <a:ext cx="137160" cy="91440"/>
          </a:xfrm>
          <a:prstGeom prst="ellipse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414516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414516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春分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6414516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6414516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Spring Equinox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6414516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昼夜平分，生机盎然。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414516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Day and night are equal length.</a:t>
            </a:r>
          </a:p>
        </p:txBody>
      </p:sp>
      <p:sp>
        <p:nvSpPr>
          <p:cNvPr id="305" name="Oval 304"/>
          <p:cNvSpPr/>
          <p:nvPr/>
        </p:nvSpPr>
        <p:spPr>
          <a:xfrm>
            <a:off x="6414516" y="6492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652260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春分，昼夜平分，春意正浓，万物茂盛。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1" name="Rounded Rectangle 190"/>
          <p:cNvSpPr/>
          <p:nvPr/>
        </p:nvSpPr>
        <p:spPr>
          <a:xfrm>
            <a:off x="6414516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094476" y="5897880"/>
            <a:ext cx="6094476" cy="960120"/>
          </a:xfrm>
          <a:prstGeom prst="rect">
            <a:avLst/>
          </a:prstGeom>
          <a:solidFill>
            <a:srgbClr val="A0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094476" y="3429000"/>
            <a:ext cx="6094476" cy="2468880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F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320040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0" y="5897880"/>
            <a:ext cx="6094476" cy="960120"/>
          </a:xfrm>
          <a:prstGeom prst="rect">
            <a:avLst/>
          </a:prstGeom>
          <a:solidFill>
            <a:srgbClr val="A0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0" y="3429000"/>
            <a:ext cx="6094476" cy="2468880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F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414516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94476" y="2468880"/>
            <a:ext cx="6094476" cy="96012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94476" y="0"/>
            <a:ext cx="6094476" cy="2468880"/>
          </a:xfrm>
          <a:prstGeom prst="rect">
            <a:avLst/>
          </a:prstGeom>
          <a:solidFill>
            <a:srgbClr val="A8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0040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6094476" cy="960120"/>
          </a:xfrm>
          <a:prstGeom prst="rect">
            <a:avLst/>
          </a:prstGeom>
          <a:solidFill>
            <a:srgbClr val="B8D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468880"/>
          </a:xfrm>
          <a:prstGeom prst="rect">
            <a:avLst/>
          </a:prstGeom>
          <a:solidFill>
            <a:srgbClr val="D8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89099" y="36576"/>
            <a:ext cx="329184" cy="32918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59431" y="176480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44217" y="37603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3789" y="37603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575" y="176480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3789" y="-2307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4217" y="-2307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24833" y="754380"/>
            <a:ext cx="73152" cy="32004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5377" y="525780"/>
            <a:ext cx="512064" cy="502920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51681" y="388620"/>
            <a:ext cx="411480" cy="384048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0857" y="137160"/>
            <a:ext cx="146304" cy="204825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29378" y="137160"/>
            <a:ext cx="29260" cy="204825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0857" y="224942"/>
            <a:ext cx="146304" cy="29260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4748" y="356616"/>
            <a:ext cx="58521" cy="43891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4748" y="415137"/>
            <a:ext cx="5852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4748" y="473658"/>
            <a:ext cx="58521" cy="43891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171" y="1316737"/>
            <a:ext cx="181051" cy="181051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7712" y="1267360"/>
            <a:ext cx="213969" cy="11521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712" y="1382573"/>
            <a:ext cx="213969" cy="263347"/>
          </a:xfrm>
          <a:prstGeom prst="rect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1253" y="1596543"/>
            <a:ext cx="246887" cy="98755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0105" y="141549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28140" y="141549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2400" y="164592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9386" y="164592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3548" y="139903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1156" y="139903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0007" y="1431951"/>
            <a:ext cx="49377" cy="2468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28342" y="1543050"/>
            <a:ext cx="1097280" cy="320040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365" y="235915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6473" y="227685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4528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2310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8419" y="225491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8419" y="234269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9392" y="230977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22094" y="235915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078202" y="227685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056257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144039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100148" y="225491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00148" y="234269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11121" y="230977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713" y="235915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01821" y="227685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79876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67658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23767" y="225491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23767" y="234269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34740" y="230977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69332" y="2359152"/>
            <a:ext cx="21945" cy="13716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25440" y="2276856"/>
            <a:ext cx="109728" cy="109728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103495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191277" y="2298802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147386" y="2254911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147386" y="2342694"/>
            <a:ext cx="65836" cy="65836"/>
          </a:xfrm>
          <a:prstGeom prst="ellipse">
            <a:avLst/>
          </a:prstGeom>
          <a:solidFill>
            <a:srgbClr val="F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158359" y="2309775"/>
            <a:ext cx="43891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清明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Clear and Bright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天清气明，踏青扫墓。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Sunny day for spring outings.</a:t>
            </a:r>
          </a:p>
        </p:txBody>
      </p:sp>
      <p:sp>
        <p:nvSpPr>
          <p:cNvPr id="68" name="Oval 67"/>
          <p:cNvSpPr/>
          <p:nvPr/>
        </p:nvSpPr>
        <p:spPr>
          <a:xfrm>
            <a:off x="320040" y="3063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清明，天气晴朗，草木繁茂，适合踏青郊游。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86523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477963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69403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60843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86523" y="4572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77963" y="4572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69403" y="4572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60843" y="4572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86523" y="6858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77963" y="6858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69403" y="6858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60843" y="6858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86523" y="9144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77963" y="9144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569403" y="9144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30592" y="222885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008647" y="217032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023277" y="214106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49487" y="222885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227542" y="217032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242172" y="214106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468382" y="222885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446437" y="217032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461067" y="214106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687278" y="222885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665333" y="217032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679963" y="214106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836990" y="107442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818702" y="101955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18702" y="1147572"/>
            <a:ext cx="237744" cy="292608"/>
          </a:xfrm>
          <a:prstGeom prst="rect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800414" y="1385316"/>
            <a:ext cx="274320" cy="109728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754694" y="118414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074734" y="118414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46134" y="144018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965006" y="144018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891854" y="116586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955862" y="116586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910142" y="120243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313371" y="1645920"/>
            <a:ext cx="1371600" cy="292608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14516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14516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谷雨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14516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14516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Grain Rain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14516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雨润百谷，万物生长。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14516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Rain helps crops grow well.</a:t>
            </a:r>
          </a:p>
        </p:txBody>
      </p:sp>
      <p:sp>
        <p:nvSpPr>
          <p:cNvPr id="123" name="Oval 122"/>
          <p:cNvSpPr/>
          <p:nvPr/>
        </p:nvSpPr>
        <p:spPr>
          <a:xfrm>
            <a:off x="6463893" y="3096158"/>
            <a:ext cx="65836" cy="98755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52260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谷雨，雨生百谷，是播种移苗的好时节。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369689" y="3392424"/>
            <a:ext cx="402336" cy="4023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822317" y="3563417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681499" y="3807320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399865" y="3807320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259047" y="3563417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399865" y="3319514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681499" y="3319514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612794" y="4286250"/>
            <a:ext cx="87782" cy="38404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349447" y="4011930"/>
            <a:ext cx="614476" cy="603504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525012" y="3847338"/>
            <a:ext cx="493776" cy="460857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14171" y="5417820"/>
            <a:ext cx="548640" cy="182880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523619" y="5151729"/>
            <a:ext cx="268833" cy="10241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38833" y="5074920"/>
            <a:ext cx="25603" cy="11521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587626" y="5023714"/>
            <a:ext cx="140817" cy="128015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626031" y="5049317"/>
            <a:ext cx="64007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742514" y="5277916"/>
            <a:ext cx="230428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841269" y="5212080"/>
            <a:ext cx="21945" cy="98755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797378" y="5168189"/>
            <a:ext cx="120700" cy="10972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830296" y="5190135"/>
            <a:ext cx="54864" cy="4389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388022" y="4642867"/>
            <a:ext cx="181051" cy="181051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371563" y="4593490"/>
            <a:ext cx="213969" cy="11521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371563" y="4708703"/>
            <a:ext cx="213969" cy="263347"/>
          </a:xfrm>
          <a:prstGeom prst="rect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355104" y="4922673"/>
            <a:ext cx="246887" cy="98755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313956" y="474162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601991" y="474162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396251" y="497205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503237" y="497205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437399" y="472516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495007" y="472516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453858" y="4758081"/>
            <a:ext cx="49377" cy="2468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20040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0040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立夏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20040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0040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Start of Summer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20040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夏日初临，万物生长。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20040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Summer comes. Plants grow fast.</a:t>
            </a:r>
          </a:p>
        </p:txBody>
      </p:sp>
      <p:sp>
        <p:nvSpPr>
          <p:cNvPr id="169" name="Oval 168"/>
          <p:cNvSpPr/>
          <p:nvPr/>
        </p:nvSpPr>
        <p:spPr>
          <a:xfrm>
            <a:off x="320040" y="6492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57784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立夏，夏季开始，万物进入生长旺季。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30491" y="3383280"/>
            <a:ext cx="365760" cy="36576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541970" y="353872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413955" y="376045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57924" y="376045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029908" y="353872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57923" y="331699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413955" y="3316998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532266" y="4732020"/>
            <a:ext cx="914400" cy="365760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825457" y="4398722"/>
            <a:ext cx="460856" cy="460856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990049" y="4563314"/>
            <a:ext cx="131673" cy="131673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039426" y="4398722"/>
            <a:ext cx="32918" cy="46085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825457" y="4612691"/>
            <a:ext cx="460856" cy="3291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36990" y="5760720"/>
            <a:ext cx="731520" cy="137160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414516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414516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小满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414516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414516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Grain Full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414516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麦粒渐满，丰收在望。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14516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Grains start to become full.</a:t>
            </a:r>
          </a:p>
        </p:txBody>
      </p:sp>
      <p:sp>
        <p:nvSpPr>
          <p:cNvPr id="198" name="Oval 197"/>
          <p:cNvSpPr/>
          <p:nvPr/>
        </p:nvSpPr>
        <p:spPr>
          <a:xfrm>
            <a:off x="6463893" y="6492240"/>
            <a:ext cx="65836" cy="115214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652260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小满，麦粒渐满，但尚未成熟。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6" name="Rounded Rectangle 165"/>
          <p:cNvSpPr/>
          <p:nvPr/>
        </p:nvSpPr>
        <p:spPr>
          <a:xfrm>
            <a:off x="6414516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094476" y="5897880"/>
            <a:ext cx="6094476" cy="960120"/>
          </a:xfrm>
          <a:prstGeom prst="rect">
            <a:avLst/>
          </a:prstGeom>
          <a:solidFill>
            <a:srgbClr val="A0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094476" y="3429000"/>
            <a:ext cx="6094476" cy="2468880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F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20040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0" y="5897880"/>
            <a:ext cx="6094476" cy="960120"/>
          </a:xfrm>
          <a:prstGeom prst="rect">
            <a:avLst/>
          </a:prstGeom>
          <a:solidFill>
            <a:srgbClr val="A0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0" y="3429000"/>
            <a:ext cx="6094476" cy="2468880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F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414516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4476" y="2468880"/>
            <a:ext cx="6094476" cy="960120"/>
          </a:xfrm>
          <a:prstGeom prst="rect">
            <a:avLst/>
          </a:prstGeom>
          <a:solidFill>
            <a:srgbClr val="A0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94476" y="0"/>
            <a:ext cx="6094476" cy="2468880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F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20040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6094476" cy="960120"/>
          </a:xfrm>
          <a:prstGeom prst="rect">
            <a:avLst/>
          </a:prstGeom>
          <a:solidFill>
            <a:srgbClr val="A0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468880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F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69689" y="-64008"/>
            <a:ext cx="402336" cy="4023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22317" y="106985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81499" y="350888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99865" y="350888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59047" y="106985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99865" y="-136918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81499" y="-136918"/>
            <a:ext cx="60350" cy="6035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23619" y="1440180"/>
            <a:ext cx="1005840" cy="347472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78575" y="117729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60287" y="112242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0287" y="1250442"/>
            <a:ext cx="237744" cy="292608"/>
          </a:xfrm>
          <a:prstGeom prst="rect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1999" y="1488186"/>
            <a:ext cx="274320" cy="109728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6279" y="128701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6319" y="128701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87719" y="154305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06591" y="154305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33439" y="126873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97447" y="126873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51727" y="130530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6025" y="222885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337" y="216301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7796" y="213009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74920" y="222885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50232" y="216301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66691" y="213009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93815" y="222885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69127" y="216301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85586" y="213009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12710" y="222885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88022" y="216301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04481" y="213009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芒种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Grain in 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麦熟仲夏，忙收忙种。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Wheat matures, rice is planted.</a:t>
            </a:r>
          </a:p>
        </p:txBody>
      </p:sp>
      <p:sp>
        <p:nvSpPr>
          <p:cNvPr id="43" name="Oval 42"/>
          <p:cNvSpPr/>
          <p:nvPr/>
        </p:nvSpPr>
        <p:spPr>
          <a:xfrm>
            <a:off x="369417" y="3063240"/>
            <a:ext cx="65836" cy="115214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芒种，麦类成熟，稻谷播种，忙收忙种。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85682" y="-182880"/>
            <a:ext cx="512064" cy="5120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61754" y="34748"/>
            <a:ext cx="76808" cy="768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82532" y="345170"/>
            <a:ext cx="76808" cy="768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24088" y="345170"/>
            <a:ext cx="76808" cy="768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44866" y="34748"/>
            <a:ext cx="76808" cy="768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24088" y="-275674"/>
            <a:ext cx="76808" cy="768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82532" y="-275674"/>
            <a:ext cx="76808" cy="768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3371" y="1988819"/>
            <a:ext cx="640080" cy="201168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27542" y="1755648"/>
            <a:ext cx="384048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92134" y="1645920"/>
            <a:ext cx="36576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8982" y="1572768"/>
            <a:ext cx="201168" cy="18288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373846" y="1609344"/>
            <a:ext cx="91440" cy="7315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446437" y="1870862"/>
            <a:ext cx="307238" cy="117043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78110" y="1783080"/>
            <a:ext cx="29260" cy="131673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519589" y="1724559"/>
            <a:ext cx="160934" cy="1463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563480" y="1753820"/>
            <a:ext cx="73152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618095" y="2125980"/>
            <a:ext cx="109728" cy="73152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61986" y="2184501"/>
            <a:ext cx="21945" cy="5852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751161" y="2057400"/>
            <a:ext cx="96012" cy="64007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89565" y="2108606"/>
            <a:ext cx="19202" cy="5120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55650" y="1200150"/>
            <a:ext cx="29260" cy="160934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482498" y="1229410"/>
            <a:ext cx="87782" cy="29260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599541" y="1229410"/>
            <a:ext cx="87782" cy="29260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482498" y="1287932"/>
            <a:ext cx="73152" cy="29260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614171" y="1287932"/>
            <a:ext cx="73152" cy="29260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14516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14516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夏至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14516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Summer Solstice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夏至已至，昼最长夜最短。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4516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Longest day of the year.</a:t>
            </a:r>
          </a:p>
        </p:txBody>
      </p:sp>
      <p:sp>
        <p:nvSpPr>
          <p:cNvPr id="84" name="Oval 83"/>
          <p:cNvSpPr/>
          <p:nvPr/>
        </p:nvSpPr>
        <p:spPr>
          <a:xfrm>
            <a:off x="6414516" y="3063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52260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夏至，北半球白昼最长，阳气最盛。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99439" y="3319272"/>
            <a:ext cx="438912" cy="43891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493215" y="3505810"/>
            <a:ext cx="65836" cy="658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339596" y="3771886"/>
            <a:ext cx="65836" cy="658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32358" y="3771886"/>
            <a:ext cx="65836" cy="658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78739" y="3505810"/>
            <a:ext cx="65836" cy="658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32358" y="3239734"/>
            <a:ext cx="65836" cy="658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39596" y="3239734"/>
            <a:ext cx="65836" cy="6583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828342" y="4286250"/>
            <a:ext cx="137160" cy="54864"/>
          </a:xfrm>
          <a:prstGeom prst="ellipse">
            <a:avLst/>
          </a:prstGeom>
          <a:solidFill>
            <a:srgbClr val="F8E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47238" y="4560570"/>
            <a:ext cx="137160" cy="54864"/>
          </a:xfrm>
          <a:prstGeom prst="ellipse">
            <a:avLst/>
          </a:prstGeom>
          <a:solidFill>
            <a:srgbClr val="F8E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266133" y="4834890"/>
            <a:ext cx="137160" cy="54864"/>
          </a:xfrm>
          <a:prstGeom prst="ellipse">
            <a:avLst/>
          </a:prstGeom>
          <a:solidFill>
            <a:srgbClr val="F8E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913861" y="3943350"/>
            <a:ext cx="95097" cy="416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628568" y="3646170"/>
            <a:ext cx="665682" cy="653796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8763" y="3467862"/>
            <a:ext cx="534924" cy="499262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351961" y="4882897"/>
            <a:ext cx="181051" cy="181051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335502" y="4833520"/>
            <a:ext cx="213969" cy="11521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335502" y="4948733"/>
            <a:ext cx="213969" cy="263347"/>
          </a:xfrm>
          <a:prstGeom prst="rect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319043" y="5162703"/>
            <a:ext cx="246887" cy="98755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277895" y="498165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565930" y="498165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360190" y="521208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467176" y="521208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401338" y="496519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458946" y="496519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417797" y="4998111"/>
            <a:ext cx="49377" cy="2468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523619" y="5657850"/>
            <a:ext cx="256031" cy="16093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567510" y="5687110"/>
            <a:ext cx="168249" cy="10241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611401" y="5716371"/>
            <a:ext cx="14630" cy="21945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655292" y="5731002"/>
            <a:ext cx="14630" cy="21945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633347" y="5701741"/>
            <a:ext cx="14630" cy="21945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388022" y="4972050"/>
            <a:ext cx="109728" cy="82296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431913" y="5037886"/>
            <a:ext cx="21945" cy="8229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0040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0040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小暑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0040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20040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Minor Heat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0040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初伏将至，暑气渐盛。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0040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The weather becomes hot.</a:t>
            </a:r>
          </a:p>
        </p:txBody>
      </p:sp>
      <p:sp>
        <p:nvSpPr>
          <p:cNvPr id="131" name="Oval 130"/>
          <p:cNvSpPr/>
          <p:nvPr/>
        </p:nvSpPr>
        <p:spPr>
          <a:xfrm>
            <a:off x="320040" y="6492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57784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小暑，天气开始炎热，但还没到最热。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427589" y="3282696"/>
            <a:ext cx="475488" cy="47548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962513" y="3484779"/>
            <a:ext cx="71322" cy="7132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796092" y="3773028"/>
            <a:ext cx="71322" cy="7132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463252" y="3773028"/>
            <a:ext cx="71322" cy="7132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96831" y="3484779"/>
            <a:ext cx="71322" cy="7132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463252" y="3196530"/>
            <a:ext cx="71322" cy="7132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96092" y="3196530"/>
            <a:ext cx="71322" cy="7132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008647" y="5417820"/>
            <a:ext cx="731520" cy="228600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922818" y="5173675"/>
            <a:ext cx="345643" cy="131673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070950" y="5074920"/>
            <a:ext cx="32918" cy="14813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005114" y="5009084"/>
            <a:ext cx="181051" cy="16459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054491" y="5042002"/>
            <a:ext cx="8229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446437" y="5048859"/>
            <a:ext cx="268833" cy="10241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561651" y="4972050"/>
            <a:ext cx="25603" cy="11521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510444" y="4920844"/>
            <a:ext cx="140817" cy="128015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548849" y="4946447"/>
            <a:ext cx="64007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482498" y="5657850"/>
            <a:ext cx="292608" cy="201168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537362" y="5548122"/>
            <a:ext cx="182880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555650" y="5511546"/>
            <a:ext cx="73152" cy="7315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628802" y="5511546"/>
            <a:ext cx="73152" cy="7315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573938" y="5529834"/>
            <a:ext cx="36576" cy="36576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647090" y="5529834"/>
            <a:ext cx="36576" cy="36576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36990" y="4629150"/>
            <a:ext cx="45720" cy="4572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055885" y="4869180"/>
            <a:ext cx="45720" cy="4572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091946" y="4732020"/>
            <a:ext cx="45720" cy="4572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446437" y="4389120"/>
            <a:ext cx="45720" cy="4572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414516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14516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大暑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414516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414516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Major Heat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414516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最热时节，荷塘消暑。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414516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The hottest time of year.</a:t>
            </a:r>
          </a:p>
        </p:txBody>
      </p:sp>
      <p:sp>
        <p:nvSpPr>
          <p:cNvPr id="173" name="Oval 172"/>
          <p:cNvSpPr/>
          <p:nvPr/>
        </p:nvSpPr>
        <p:spPr>
          <a:xfrm>
            <a:off x="6414516" y="6492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652260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大暑，一年中最热的时期，热浪滚滚。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5" name="Rounded Rectangle 164"/>
          <p:cNvSpPr/>
          <p:nvPr/>
        </p:nvSpPr>
        <p:spPr>
          <a:xfrm>
            <a:off x="6414516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094476" y="5897880"/>
            <a:ext cx="6094476" cy="96012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094476" y="3429000"/>
            <a:ext cx="6094476" cy="2468880"/>
          </a:xfrm>
          <a:prstGeom prst="rect">
            <a:avLst/>
          </a:prstGeom>
          <a:solidFill>
            <a:srgbClr val="F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20040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0" y="5897880"/>
            <a:ext cx="6094476" cy="96012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3429000"/>
            <a:ext cx="6094476" cy="2468880"/>
          </a:xfrm>
          <a:prstGeom prst="rect">
            <a:avLst/>
          </a:prstGeom>
          <a:solidFill>
            <a:srgbClr val="F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414516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4476" y="2468880"/>
            <a:ext cx="6094476" cy="96012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4476" y="0"/>
            <a:ext cx="6094476" cy="2468880"/>
          </a:xfrm>
          <a:prstGeom prst="rect">
            <a:avLst/>
          </a:prstGeom>
          <a:solidFill>
            <a:srgbClr val="F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0040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6094476" cy="96012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468880"/>
          </a:xfrm>
          <a:prstGeom prst="rect">
            <a:avLst/>
          </a:prstGeom>
          <a:solidFill>
            <a:srgbClr val="F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0811" y="-18288"/>
            <a:ext cx="365760" cy="36576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82290" y="137160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54275" y="358890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8244" y="358890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70228" y="137160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8243" y="-84570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4275" y="-84570"/>
            <a:ext cx="54864" cy="5486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6452" y="754380"/>
            <a:ext cx="80467" cy="352044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75050" y="502920"/>
            <a:ext cx="563270" cy="553212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5985" y="352044"/>
            <a:ext cx="452628" cy="422452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23619" y="222885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1051" y="226542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2514" y="246888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9946" y="250545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66133" y="233172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3565" y="236829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80304" y="257175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07736" y="260832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18895" y="2267254"/>
            <a:ext cx="192024" cy="140817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95704" y="2228850"/>
            <a:ext cx="38404" cy="51206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8022" y="1200150"/>
            <a:ext cx="146304" cy="21945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8022" y="1258671"/>
            <a:ext cx="124358" cy="21945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8022" y="1317193"/>
            <a:ext cx="102412" cy="21945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立秋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Start of Autumn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秋意渐起，暑去凉来。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Autumn begins. Cool weather arrives.</a:t>
            </a:r>
          </a:p>
        </p:txBody>
      </p:sp>
      <p:sp>
        <p:nvSpPr>
          <p:cNvPr id="35" name="Oval 34"/>
          <p:cNvSpPr/>
          <p:nvPr/>
        </p:nvSpPr>
        <p:spPr>
          <a:xfrm>
            <a:off x="369417" y="3063240"/>
            <a:ext cx="65836" cy="115214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立秋，秋季开始，暑去凉来，树叶渐黄。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00741" y="36576"/>
            <a:ext cx="329184" cy="329184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71073" y="176480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55859" y="37603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25431" y="37603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10217" y="176480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25431" y="-2307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55859" y="-23077"/>
            <a:ext cx="49376" cy="4937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13371" y="1543050"/>
            <a:ext cx="1188720" cy="320040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446437" y="107442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28149" y="101955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28149" y="1147572"/>
            <a:ext cx="237744" cy="292608"/>
          </a:xfrm>
          <a:prstGeom prst="rect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09861" y="1385316"/>
            <a:ext cx="274320" cy="109728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64141" y="118414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4181" y="118414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55581" y="144018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74453" y="144018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01301" y="116586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65309" y="116586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519589" y="120243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30592" y="233172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08647" y="227319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23277" y="224393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49487" y="233172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227542" y="227319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242172" y="224393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68382" y="233172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446437" y="227319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461067" y="224393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87278" y="233172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665333" y="227319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679963" y="224393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14516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4516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处暑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14516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4516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End of Heat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14516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暑气终止，凉风送爽。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14516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Hot summer days are over.</a:t>
            </a:r>
          </a:p>
        </p:txBody>
      </p:sp>
      <p:sp>
        <p:nvSpPr>
          <p:cNvPr id="82" name="Oval 81"/>
          <p:cNvSpPr/>
          <p:nvPr/>
        </p:nvSpPr>
        <p:spPr>
          <a:xfrm>
            <a:off x="6414516" y="3096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52260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处暑，炎热暑天结束，气温逐渐下降。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828342" y="3943350"/>
            <a:ext cx="731520" cy="2286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40784" y="5554980"/>
            <a:ext cx="54864" cy="54864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315900" y="5417820"/>
            <a:ext cx="54864" cy="54864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351961" y="5657850"/>
            <a:ext cx="54864" cy="54864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8022" y="5486400"/>
            <a:ext cx="54864" cy="54864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80304" y="5760720"/>
            <a:ext cx="54864" cy="54864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828342" y="4972050"/>
            <a:ext cx="123444" cy="82296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877719" y="5037886"/>
            <a:ext cx="24688" cy="6583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961409" y="4869180"/>
            <a:ext cx="109728" cy="73152"/>
          </a:xfrm>
          <a:prstGeom prst="ellipse">
            <a:avLst/>
          </a:prstGeom>
          <a:solidFill>
            <a:srgbClr val="A8C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005300" y="4927701"/>
            <a:ext cx="21945" cy="5852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7432" y="5829300"/>
            <a:ext cx="6039612" cy="109728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743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9319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5895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2471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49047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85623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22199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58775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5351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31927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68503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05079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1655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8231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14807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51383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879592" y="577443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0040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0040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白露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0040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White Dew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0040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晨露晶莹，天气转凉。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040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Dew appears on plants at night.</a:t>
            </a:r>
          </a:p>
        </p:txBody>
      </p:sp>
      <p:sp>
        <p:nvSpPr>
          <p:cNvPr id="126" name="Oval 125"/>
          <p:cNvSpPr/>
          <p:nvPr/>
        </p:nvSpPr>
        <p:spPr>
          <a:xfrm>
            <a:off x="369417" y="6525158"/>
            <a:ext cx="65836" cy="98755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7784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白露，夜间水汽凝结成露，天气转凉。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091946" y="3685032"/>
            <a:ext cx="27432" cy="274320"/>
          </a:xfrm>
          <a:prstGeom prst="rect">
            <a:avLst/>
          </a:prstGeom>
          <a:solidFill>
            <a:srgbClr val="4A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890778" y="3721608"/>
            <a:ext cx="429768" cy="18288"/>
          </a:xfrm>
          <a:prstGeom prst="rect">
            <a:avLst/>
          </a:prstGeom>
          <a:solidFill>
            <a:srgbClr val="4A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854202" y="3648456"/>
            <a:ext cx="118872" cy="82296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210818" y="3648456"/>
            <a:ext cx="118872" cy="82296"/>
          </a:xfrm>
          <a:prstGeom prst="ellipse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445044" y="5364328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425761" y="5410881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379208" y="5430164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332655" y="5410881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313372" y="5364328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332655" y="5317775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379208" y="5298492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425761" y="5317775"/>
            <a:ext cx="8229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379208" y="5364328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395667" y="5446623"/>
            <a:ext cx="32918" cy="14813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634678" y="5593384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619680" y="5629592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583472" y="5644590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547264" y="5629592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532266" y="5593384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547264" y="5557176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583472" y="5542178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619680" y="5557176"/>
            <a:ext cx="64007" cy="384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583472" y="5593384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596274" y="5657392"/>
            <a:ext cx="25603" cy="11521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446437" y="589788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473869" y="593445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665333" y="576072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692765" y="579729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457614" y="6000750"/>
            <a:ext cx="68580" cy="45720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485046" y="6037326"/>
            <a:ext cx="13716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14516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14516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秋分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414516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414516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Autumn Equinox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414516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昼夜平分，秋色正浓。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414516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Day and night are equal length.</a:t>
            </a:r>
          </a:p>
        </p:txBody>
      </p:sp>
      <p:sp>
        <p:nvSpPr>
          <p:cNvPr id="172" name="Oval 171"/>
          <p:cNvSpPr/>
          <p:nvPr/>
        </p:nvSpPr>
        <p:spPr>
          <a:xfrm>
            <a:off x="6414516" y="6492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652260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秋分，昼夜平分，秋色宜人，丹桂飘香。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Rounded Rectangle 137"/>
          <p:cNvSpPr/>
          <p:nvPr/>
        </p:nvSpPr>
        <p:spPr>
          <a:xfrm>
            <a:off x="6414516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094476" y="5897880"/>
            <a:ext cx="6094476" cy="960120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094476" y="342900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320040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5897880"/>
            <a:ext cx="6094476" cy="960120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342900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14516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94476" y="2468880"/>
            <a:ext cx="6094476" cy="96012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94476" y="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0040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6094476" cy="96012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468880"/>
          </a:xfrm>
          <a:prstGeom prst="rect">
            <a:avLst/>
          </a:prstGeom>
          <a:solidFill>
            <a:srgbClr val="F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24553" y="36576"/>
            <a:ext cx="292608" cy="292608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3737" y="160935"/>
            <a:ext cx="43890" cy="4389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51324" y="338319"/>
            <a:ext cx="43890" cy="4389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46500" y="338319"/>
            <a:ext cx="43890" cy="4389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4087" y="160935"/>
            <a:ext cx="43890" cy="4389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46500" y="-16449"/>
            <a:ext cx="43890" cy="4389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1324" y="-16449"/>
            <a:ext cx="43890" cy="43890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005" y="1988819"/>
            <a:ext cx="73152" cy="73152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33066" y="2228850"/>
            <a:ext cx="73152" cy="73152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69127" y="1885950"/>
            <a:ext cx="73152" cy="73152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66133" y="2125980"/>
            <a:ext cx="73152" cy="73152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80304" y="2400300"/>
            <a:ext cx="73152" cy="73152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" y="2331720"/>
            <a:ext cx="6039612" cy="137160"/>
          </a:xfrm>
          <a:prstGeom prst="rect">
            <a:avLst/>
          </a:prstGeom>
          <a:solidFill>
            <a:srgbClr val="D0B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2471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9047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5623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2199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8775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5351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8503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5079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1655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8231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4807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383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79592" y="22768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42514" y="857250"/>
            <a:ext cx="64007" cy="320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16911" y="844449"/>
            <a:ext cx="38404" cy="256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93720" y="844449"/>
            <a:ext cx="38404" cy="256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646502" y="934059"/>
            <a:ext cx="64007" cy="320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20899" y="921257"/>
            <a:ext cx="38404" cy="256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97709" y="921257"/>
            <a:ext cx="38404" cy="256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38526" y="934059"/>
            <a:ext cx="64007" cy="320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12922" y="921257"/>
            <a:ext cx="38404" cy="256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89732" y="921257"/>
            <a:ext cx="38404" cy="25603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寒露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Cold Dew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露气寒冷，大雁南飞。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Dew turns cold. Geese fly south.</a:t>
            </a:r>
          </a:p>
        </p:txBody>
      </p:sp>
      <p:sp>
        <p:nvSpPr>
          <p:cNvPr id="51" name="Oval 50"/>
          <p:cNvSpPr/>
          <p:nvPr/>
        </p:nvSpPr>
        <p:spPr>
          <a:xfrm>
            <a:off x="369417" y="3096158"/>
            <a:ext cx="65836" cy="98755"/>
          </a:xfrm>
          <a:prstGeom prst="ellipse">
            <a:avLst/>
          </a:prstGeom>
          <a:solidFill>
            <a:srgbClr val="9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寒露，气温更低，露水更凉，将要凝结。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3371" y="1988819"/>
            <a:ext cx="640080" cy="182880"/>
          </a:xfrm>
          <a:prstGeom prst="ellipse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18095" y="1543050"/>
            <a:ext cx="137160" cy="91440"/>
          </a:xfrm>
          <a:prstGeom prst="ellipse">
            <a:avLst/>
          </a:prstGeom>
          <a:solidFill>
            <a:srgbClr val="E89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72959" y="1616202"/>
            <a:ext cx="27432" cy="7315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446437" y="1783080"/>
            <a:ext cx="109728" cy="73152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90328" y="1841601"/>
            <a:ext cx="21945" cy="5852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65333" y="1440180"/>
            <a:ext cx="123444" cy="82296"/>
          </a:xfrm>
          <a:prstGeom prst="ellipse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714710" y="1506016"/>
            <a:ext cx="24688" cy="6583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08647" y="2468880"/>
            <a:ext cx="109728" cy="45720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227542" y="2468880"/>
            <a:ext cx="109728" cy="45720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46437" y="2468880"/>
            <a:ext cx="109728" cy="45720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665333" y="2468880"/>
            <a:ext cx="109728" cy="45720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14516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14516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霜降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4516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14516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Frost's Descent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4516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初霜出现，秋尽冬来。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4516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First frost appears.</a:t>
            </a:r>
          </a:p>
        </p:txBody>
      </p:sp>
      <p:sp>
        <p:nvSpPr>
          <p:cNvPr id="78" name="Oval 77"/>
          <p:cNvSpPr/>
          <p:nvPr/>
        </p:nvSpPr>
        <p:spPr>
          <a:xfrm>
            <a:off x="6414516" y="3096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2260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霜降，初霜出现，秋意最浓，气温骤降。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06265" y="3429000"/>
            <a:ext cx="329184" cy="329184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776597" y="3568904"/>
            <a:ext cx="49376" cy="49376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661383" y="3768461"/>
            <a:ext cx="49376" cy="49376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430955" y="3768461"/>
            <a:ext cx="49376" cy="49376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15741" y="3568904"/>
            <a:ext cx="49376" cy="49376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430955" y="3369347"/>
            <a:ext cx="49376" cy="49376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661383" y="3369347"/>
            <a:ext cx="49376" cy="49376"/>
          </a:xfrm>
          <a:prstGeom prst="ellipse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620109" y="4286250"/>
            <a:ext cx="73152" cy="32004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400653" y="4057650"/>
            <a:ext cx="512064" cy="502920"/>
          </a:xfrm>
          <a:prstGeom prst="ellipse">
            <a:avLst/>
          </a:prstGeom>
          <a:solidFill>
            <a:srgbClr val="A89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546957" y="3920490"/>
            <a:ext cx="411480" cy="384048"/>
          </a:xfrm>
          <a:prstGeom prst="ellipse">
            <a:avLst/>
          </a:prstGeom>
          <a:solidFill>
            <a:srgbClr val="A89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218895" y="5897880"/>
            <a:ext cx="82296" cy="54864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51813" y="5941771"/>
            <a:ext cx="16459" cy="4389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437790" y="6103620"/>
            <a:ext cx="82296" cy="54864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470708" y="6147511"/>
            <a:ext cx="16459" cy="4389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656685" y="6000750"/>
            <a:ext cx="82296" cy="54864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89603" y="6044641"/>
            <a:ext cx="16459" cy="4389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75580" y="6172200"/>
            <a:ext cx="82296" cy="54864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908498" y="6216091"/>
            <a:ext cx="16459" cy="4389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23619" y="5373471"/>
            <a:ext cx="204825" cy="146304"/>
          </a:xfrm>
          <a:prstGeom prst="rect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508989" y="5344210"/>
            <a:ext cx="234086" cy="87782"/>
          </a:xfrm>
          <a:prstGeom prst="ellipse">
            <a:avLst/>
          </a:prstGeom>
          <a:solidFill>
            <a:srgbClr val="D8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567510" y="5402732"/>
            <a:ext cx="29260" cy="87782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55292" y="5402732"/>
            <a:ext cx="29260" cy="87782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0040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0040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立冬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20040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0040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Start of Winter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0040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冬之始，万物收藏。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0040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Winter begins. Nature stores energy.</a:t>
            </a:r>
          </a:p>
        </p:txBody>
      </p:sp>
      <p:sp>
        <p:nvSpPr>
          <p:cNvPr id="116" name="Oval 115"/>
          <p:cNvSpPr/>
          <p:nvPr/>
        </p:nvSpPr>
        <p:spPr>
          <a:xfrm>
            <a:off x="320040" y="6525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57784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立冬，冬季开始，万物收藏，规避寒冷。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125956" y="3529587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859392" y="360208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196946" y="3767949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310850" y="3552238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966847" y="3531338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818141" y="3705278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677614" y="3593166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133606" y="3719757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008647" y="5657850"/>
            <a:ext cx="228600" cy="73152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446437" y="5760720"/>
            <a:ext cx="320040" cy="91440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022967" y="4286250"/>
            <a:ext cx="65836" cy="28803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825457" y="4080510"/>
            <a:ext cx="460856" cy="452628"/>
          </a:xfrm>
          <a:prstGeom prst="ellipse">
            <a:avLst/>
          </a:prstGeom>
          <a:solidFill>
            <a:srgbClr val="A8A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957130" y="3957066"/>
            <a:ext cx="370332" cy="345643"/>
          </a:xfrm>
          <a:prstGeom prst="ellipse">
            <a:avLst/>
          </a:prstGeom>
          <a:solidFill>
            <a:srgbClr val="A8A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14516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14516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小雪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14516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14516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Minor Snow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14516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初雪飘落，寒意渐浓。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14516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Light snow begins to fall.</a:t>
            </a:r>
          </a:p>
        </p:txBody>
      </p:sp>
      <p:sp>
        <p:nvSpPr>
          <p:cNvPr id="145" name="Oval 144"/>
          <p:cNvSpPr/>
          <p:nvPr/>
        </p:nvSpPr>
        <p:spPr>
          <a:xfrm>
            <a:off x="6414516" y="6525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652260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小雪，开始降雪，但雪量不大。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0" name="Rounded Rectangle 149"/>
          <p:cNvSpPr/>
          <p:nvPr/>
        </p:nvSpPr>
        <p:spPr>
          <a:xfrm>
            <a:off x="6414516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094476" y="5897880"/>
            <a:ext cx="6094476" cy="960120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94476" y="342900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320040" y="3703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5897880"/>
            <a:ext cx="6094476" cy="960120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342900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414516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4476" y="2468880"/>
            <a:ext cx="6094476" cy="960120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4476" y="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" y="274320"/>
            <a:ext cx="868680" cy="201168"/>
          </a:xfrm>
          <a:prstGeom prst="roundRect">
            <a:avLst/>
          </a:prstGeom>
          <a:solidFill>
            <a:srgbClr val="88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6094476" cy="960120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468880"/>
          </a:xfrm>
          <a:prstGeom prst="rect">
            <a:avLst/>
          </a:prstGeom>
          <a:solidFill>
            <a:srgbClr val="D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15" y="5601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490" y="137566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141" y="324168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7164" y="81493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1661" y="57980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3661" y="253663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4351" y="127537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8843" y="269952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5062" y="28819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2848" y="48394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0041" y="332990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183" y="109696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711" y="18422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812" y="85516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22433" y="29414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447" y="2125980"/>
            <a:ext cx="731520" cy="164592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1993" y="1108710"/>
            <a:ext cx="8046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61409" y="1038301"/>
            <a:ext cx="281635" cy="18105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81525" y="937717"/>
            <a:ext cx="241401" cy="16093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01642" y="837134"/>
            <a:ext cx="201168" cy="140817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90701" y="1984705"/>
            <a:ext cx="230428" cy="19751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23619" y="1820114"/>
            <a:ext cx="164592" cy="16459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07160" y="1721358"/>
            <a:ext cx="197510" cy="6583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23619" y="1885950"/>
            <a:ext cx="164592" cy="49377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大雪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Major Snow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雪量增多，银装素裹。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Heavy snow falls.</a:t>
            </a:r>
          </a:p>
        </p:txBody>
      </p:sp>
      <p:sp>
        <p:nvSpPr>
          <p:cNvPr id="36" name="Oval 35"/>
          <p:cNvSpPr/>
          <p:nvPr/>
        </p:nvSpPr>
        <p:spPr>
          <a:xfrm>
            <a:off x="320040" y="3096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大雪，雪量增多，地面可能积雪，天气寒冷。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95410" y="1156716"/>
            <a:ext cx="292608" cy="292608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24594" y="1281075"/>
            <a:ext cx="43890" cy="43890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2181" y="1458459"/>
            <a:ext cx="43890" cy="43890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17357" y="1458459"/>
            <a:ext cx="43890" cy="43890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14944" y="1281075"/>
            <a:ext cx="43890" cy="43890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17357" y="1103691"/>
            <a:ext cx="43890" cy="43890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22181" y="1103691"/>
            <a:ext cx="43890" cy="43890"/>
          </a:xfrm>
          <a:prstGeom prst="ellipse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03923" y="2331720"/>
            <a:ext cx="777240" cy="137160"/>
          </a:xfrm>
          <a:prstGeom prst="ellipse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00391" y="1405890"/>
            <a:ext cx="65836" cy="14813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618095" y="1348282"/>
            <a:ext cx="230428" cy="14813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634554" y="1265986"/>
            <a:ext cx="197510" cy="131673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51013" y="1183691"/>
            <a:ext cx="164592" cy="11521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56773" y="1325880"/>
            <a:ext cx="73152" cy="16459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65333" y="1261872"/>
            <a:ext cx="256032" cy="16459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683621" y="1170432"/>
            <a:ext cx="219456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01909" y="1078992"/>
            <a:ext cx="182880" cy="12801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36990" y="1988819"/>
            <a:ext cx="87782" cy="65836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69908" y="1999791"/>
            <a:ext cx="10972" cy="43891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91854" y="1999791"/>
            <a:ext cx="10972" cy="43891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446437" y="2125980"/>
            <a:ext cx="73152" cy="54864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73869" y="2135124"/>
            <a:ext cx="9144" cy="36576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92157" y="2135124"/>
            <a:ext cx="9144" cy="36576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141714" y="1783080"/>
            <a:ext cx="80467" cy="6035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71889" y="1793138"/>
            <a:ext cx="10058" cy="40233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92006" y="1793138"/>
            <a:ext cx="10058" cy="40233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14516" y="292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4516" y="594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冬至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14516" y="1051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14516" y="1161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Winter Solstice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14516" y="1362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昼最短夜最长，数九开始。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4516" y="1527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Shortest day of the year.</a:t>
            </a:r>
          </a:p>
        </p:txBody>
      </p:sp>
      <p:sp>
        <p:nvSpPr>
          <p:cNvPr id="77" name="Oval 76"/>
          <p:cNvSpPr/>
          <p:nvPr/>
        </p:nvSpPr>
        <p:spPr>
          <a:xfrm>
            <a:off x="6414516" y="3063240"/>
            <a:ext cx="164592" cy="164592"/>
          </a:xfrm>
          <a:prstGeom prst="ellipse">
            <a:avLst/>
          </a:prstGeom>
          <a:solidFill>
            <a:srgbClr val="F8E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52260" y="3081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冬至，白昼最短，黑夜最长，数九寒天开始。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61409" y="4286250"/>
            <a:ext cx="182880" cy="27432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961409" y="4359402"/>
            <a:ext cx="155448" cy="27432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61409" y="4432554"/>
            <a:ext cx="128016" cy="27432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31337" y="5657850"/>
            <a:ext cx="731520" cy="164592"/>
          </a:xfrm>
          <a:prstGeom prst="ellipse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052849" y="4617720"/>
            <a:ext cx="73152" cy="16459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61409" y="4553712"/>
            <a:ext cx="256032" cy="16459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979697" y="4462272"/>
            <a:ext cx="219456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997985" y="4370832"/>
            <a:ext cx="182880" cy="12801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611402" y="5001311"/>
            <a:ext cx="58521" cy="5852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81074" y="5043053"/>
            <a:ext cx="58521" cy="5852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532003" y="5027109"/>
            <a:ext cx="58521" cy="5852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532003" y="4975513"/>
            <a:ext cx="58521" cy="5852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581074" y="4959569"/>
            <a:ext cx="58521" cy="5852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582141" y="5015941"/>
            <a:ext cx="29260" cy="2926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582141" y="5059832"/>
            <a:ext cx="29260" cy="10972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503627" y="4651096"/>
            <a:ext cx="43891" cy="4389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480881" y="4682402"/>
            <a:ext cx="43891" cy="4389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444078" y="4670444"/>
            <a:ext cx="43891" cy="4389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444078" y="4631748"/>
            <a:ext cx="43891" cy="4389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480881" y="4619790"/>
            <a:ext cx="43891" cy="43891"/>
          </a:xfrm>
          <a:prstGeom prst="ellipse">
            <a:avLst/>
          </a:prstGeom>
          <a:solidFill>
            <a:srgbClr val="D8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81682" y="4662069"/>
            <a:ext cx="21945" cy="21945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481682" y="4694986"/>
            <a:ext cx="21945" cy="8229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040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小寒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0040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0040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Minor Cold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040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初寒未极，梅花吐蕊。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0040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Cold but not the coldest.</a:t>
            </a:r>
          </a:p>
        </p:txBody>
      </p:sp>
      <p:sp>
        <p:nvSpPr>
          <p:cNvPr id="115" name="Oval 114"/>
          <p:cNvSpPr/>
          <p:nvPr/>
        </p:nvSpPr>
        <p:spPr>
          <a:xfrm>
            <a:off x="320040" y="6525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57784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小寒，天气寒冷但未到极点，梅花初绽。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720151" y="3529584"/>
            <a:ext cx="256032" cy="256032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008187" y="3638398"/>
            <a:ext cx="38404" cy="38404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918576" y="3793609"/>
            <a:ext cx="38404" cy="38404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739354" y="3793609"/>
            <a:ext cx="38404" cy="38404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649743" y="3638398"/>
            <a:ext cx="38404" cy="38404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739354" y="3483187"/>
            <a:ext cx="38404" cy="38404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918576" y="3483187"/>
            <a:ext cx="38404" cy="38404"/>
          </a:xfrm>
          <a:prstGeom prst="ellipse">
            <a:avLst/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582034" y="5486400"/>
            <a:ext cx="822960" cy="228600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851745" y="4434840"/>
            <a:ext cx="8046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751161" y="4364431"/>
            <a:ext cx="281635" cy="18105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771277" y="4263847"/>
            <a:ext cx="241401" cy="16093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791394" y="4163264"/>
            <a:ext cx="201168" cy="140817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372211" y="3501012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138967" y="3564444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434327" y="3709578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533993" y="352083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232990" y="3502544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102872" y="365474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979912" y="3556644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378905" y="3667411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104026" y="3681596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481027" y="3495087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478715" y="3716440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180714" y="3542767"/>
            <a:ext cx="91440" cy="9144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922818" y="5353354"/>
            <a:ext cx="128015" cy="89611"/>
          </a:xfrm>
          <a:prstGeom prst="rect">
            <a:avLst/>
          </a:prstGeom>
          <a:solidFill>
            <a:srgbClr val="C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948421" y="5366156"/>
            <a:ext cx="51206" cy="25603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4516" y="37216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8F5F0"/>
                </a:solidFill>
                <a:latin typeface="Source Han Sans SC"/>
              </a:rPr>
              <a:t>二十四节气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14516" y="4023360"/>
            <a:ext cx="56372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A3530"/>
                </a:solidFill>
                <a:latin typeface="Source Han Sans SC"/>
              </a:rPr>
              <a:t>大寒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414516" y="4480560"/>
            <a:ext cx="411480" cy="36576"/>
          </a:xfrm>
          <a:prstGeom prst="rect">
            <a:avLst/>
          </a:prstGeom>
          <a:solidFill>
            <a:srgbClr val="90C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414516" y="4590288"/>
            <a:ext cx="5637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Nunito"/>
              </a:rPr>
              <a:t>Major Cold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14516" y="4791456"/>
            <a:ext cx="56372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Source Han Sans SC"/>
              </a:rPr>
              <a:t>一年最冷，静待春归。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14516" y="495604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078"/>
                </a:solidFill>
                <a:latin typeface="Nunito"/>
              </a:rPr>
              <a:t>The coldest time of year.</a:t>
            </a:r>
          </a:p>
        </p:txBody>
      </p:sp>
      <p:sp>
        <p:nvSpPr>
          <p:cNvPr id="157" name="Oval 156"/>
          <p:cNvSpPr/>
          <p:nvPr/>
        </p:nvSpPr>
        <p:spPr>
          <a:xfrm>
            <a:off x="6414516" y="6525158"/>
            <a:ext cx="164592" cy="82296"/>
          </a:xfrm>
          <a:prstGeom prst="ellipse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652260" y="6510528"/>
            <a:ext cx="53629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078"/>
                </a:solidFill>
                <a:latin typeface="Source Han Sans SC"/>
              </a:rPr>
              <a:t>大寒，一年中最冷的时期，冰天雪地。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