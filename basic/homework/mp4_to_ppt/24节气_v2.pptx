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4FB3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623560"/>
            <a:ext cx="12188952" cy="123444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2437790" y="548640"/>
            <a:ext cx="7313371" cy="4937760"/>
          </a:xfrm>
          <a:prstGeom prst="rect">
            <a:avLst/>
          </a:prstGeom>
          <a:solidFill>
            <a:srgbClr val="3A9AD4"/>
          </a:solidFill>
          <a:ln w="25400">
            <a:solidFill>
              <a:srgbClr val="4A301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2803458" y="844905"/>
            <a:ext cx="6582033" cy="1382572"/>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2803458" y="872556"/>
            <a:ext cx="6582033" cy="663634"/>
          </a:xfrm>
          <a:prstGeom prst="rect">
            <a:avLst/>
          </a:prstGeom>
          <a:noFill/>
        </p:spPr>
        <p:txBody>
          <a:bodyPr wrap="square">
            <a:spAutoFit/>
          </a:bodyPr>
          <a:lstStyle/>
          <a:p>
            <a:pPr algn="ctr"/>
            <a:r>
              <a:rPr sz="3800" b="1" i="0">
                <a:solidFill>
                  <a:srgbClr val="1A1A2E"/>
                </a:solidFill>
                <a:latin typeface="Georgia"/>
              </a:rPr>
              <a:t>24 Solar Terms</a:t>
            </a:r>
          </a:p>
        </p:txBody>
      </p:sp>
      <p:sp>
        <p:nvSpPr>
          <p:cNvPr id="7" name="TextBox 6"/>
          <p:cNvSpPr txBox="1"/>
          <p:nvPr/>
        </p:nvSpPr>
        <p:spPr>
          <a:xfrm>
            <a:off x="2803458" y="1508539"/>
            <a:ext cx="6582033" cy="691286"/>
          </a:xfrm>
          <a:prstGeom prst="rect">
            <a:avLst/>
          </a:prstGeom>
          <a:noFill/>
        </p:spPr>
        <p:txBody>
          <a:bodyPr wrap="square">
            <a:spAutoFit/>
          </a:bodyPr>
          <a:lstStyle/>
          <a:p>
            <a:pPr algn="ctr"/>
            <a:r>
              <a:rPr sz="3600" b="1" i="0">
                <a:solidFill>
                  <a:srgbClr val="1A1A2E"/>
                </a:solidFill>
                <a:latin typeface="Microsoft YaHei"/>
              </a:rPr>
              <a:t>二十四节气</a:t>
            </a:r>
          </a:p>
        </p:txBody>
      </p:sp>
      <p:sp>
        <p:nvSpPr>
          <p:cNvPr id="8" name="TextBox 7"/>
          <p:cNvSpPr txBox="1"/>
          <p:nvPr/>
        </p:nvSpPr>
        <p:spPr>
          <a:xfrm>
            <a:off x="3169127" y="2424987"/>
            <a:ext cx="5850696" cy="395020"/>
          </a:xfrm>
          <a:prstGeom prst="rect">
            <a:avLst/>
          </a:prstGeom>
          <a:noFill/>
        </p:spPr>
        <p:txBody>
          <a:bodyPr wrap="square">
            <a:spAutoFit/>
          </a:bodyPr>
          <a:lstStyle/>
          <a:p>
            <a:pPr algn="ctr"/>
            <a:r>
              <a:rPr sz="1300" b="0" i="1">
                <a:solidFill>
                  <a:srgbClr val="FFFFFF"/>
                </a:solidFill>
                <a:latin typeface="Georgia"/>
              </a:rPr>
              <a:t>Written &amp; Illustrated by Sunny and Mum</a:t>
            </a:r>
          </a:p>
        </p:txBody>
      </p:sp>
      <p:sp>
        <p:nvSpPr>
          <p:cNvPr id="9" name="Oval 8"/>
          <p:cNvSpPr/>
          <p:nvPr/>
        </p:nvSpPr>
        <p:spPr>
          <a:xfrm>
            <a:off x="5008168" y="2820009"/>
            <a:ext cx="2172614" cy="2172614"/>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07272" y="3667329"/>
            <a:ext cx="477974" cy="47797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181380" y="4231790"/>
            <a:ext cx="477974" cy="47797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5529595" y="4231790"/>
            <a:ext cx="477974" cy="47797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203703" y="3667329"/>
            <a:ext cx="477974" cy="47797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5529595" y="3102867"/>
            <a:ext cx="477974" cy="47797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181380" y="3102867"/>
            <a:ext cx="477974" cy="47797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58267" y="2852928"/>
            <a:ext cx="329184" cy="329184"/>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8489563" y="2852928"/>
            <a:ext cx="329184" cy="329184"/>
          </a:xfrm>
          <a:prstGeom prst="ellipse">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8E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243779" y="411480"/>
            <a:ext cx="5606917" cy="6035040"/>
          </a:xfrm>
          <a:prstGeom prst="rect">
            <a:avLst/>
          </a:prstGeom>
          <a:solidFill>
            <a:srgbClr val="D8EDB0"/>
          </a:solidFill>
          <a:ln w="19050">
            <a:solidFill>
              <a:srgbClr val="5AA8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9447" y="685800"/>
            <a:ext cx="4875580" cy="685800"/>
          </a:xfrm>
          <a:prstGeom prst="rect">
            <a:avLst/>
          </a:prstGeom>
          <a:noFill/>
        </p:spPr>
        <p:txBody>
          <a:bodyPr wrap="square">
            <a:spAutoFit/>
          </a:bodyPr>
          <a:lstStyle/>
          <a:p>
            <a:pPr algn="l"/>
            <a:r>
              <a:rPr sz="2800" b="1" i="0">
                <a:solidFill>
                  <a:srgbClr val="2E7A3C"/>
                </a:solidFill>
                <a:latin typeface="Georgia"/>
              </a:rPr>
              <a:t>Contents</a:t>
            </a:r>
          </a:p>
        </p:txBody>
      </p:sp>
      <p:sp>
        <p:nvSpPr>
          <p:cNvPr id="5" name="TextBox 4"/>
          <p:cNvSpPr txBox="1"/>
          <p:nvPr/>
        </p:nvSpPr>
        <p:spPr>
          <a:xfrm>
            <a:off x="731337" y="1645920"/>
            <a:ext cx="731337" cy="685800"/>
          </a:xfrm>
          <a:prstGeom prst="rect">
            <a:avLst/>
          </a:prstGeom>
          <a:noFill/>
        </p:spPr>
        <p:txBody>
          <a:bodyPr wrap="square">
            <a:spAutoFit/>
          </a:bodyPr>
          <a:lstStyle/>
          <a:p>
            <a:pPr algn="l"/>
            <a:r>
              <a:rPr sz="2000" b="1" i="0">
                <a:solidFill>
                  <a:srgbClr val="E86070"/>
                </a:solidFill>
                <a:latin typeface="Microsoft YaHei"/>
              </a:rPr>
              <a:t>1.</a:t>
            </a:r>
          </a:p>
        </p:txBody>
      </p:sp>
      <p:sp>
        <p:nvSpPr>
          <p:cNvPr id="6" name="TextBox 5"/>
          <p:cNvSpPr txBox="1"/>
          <p:nvPr/>
        </p:nvSpPr>
        <p:spPr>
          <a:xfrm>
            <a:off x="1462674" y="1645920"/>
            <a:ext cx="4144243" cy="685800"/>
          </a:xfrm>
          <a:prstGeom prst="rect">
            <a:avLst/>
          </a:prstGeom>
          <a:noFill/>
        </p:spPr>
        <p:txBody>
          <a:bodyPr wrap="square">
            <a:spAutoFit/>
          </a:bodyPr>
          <a:lstStyle/>
          <a:p>
            <a:pPr algn="l"/>
            <a:r>
              <a:rPr sz="2000" b="0" i="0">
                <a:solidFill>
                  <a:srgbClr val="1A1A2E"/>
                </a:solidFill>
                <a:latin typeface="Microsoft YaHei"/>
              </a:rPr>
              <a:t>Origin 起源</a:t>
            </a:r>
          </a:p>
        </p:txBody>
      </p:sp>
      <p:sp>
        <p:nvSpPr>
          <p:cNvPr id="7" name="TextBox 6"/>
          <p:cNvSpPr txBox="1"/>
          <p:nvPr/>
        </p:nvSpPr>
        <p:spPr>
          <a:xfrm>
            <a:off x="731337" y="2606040"/>
            <a:ext cx="731337" cy="685800"/>
          </a:xfrm>
          <a:prstGeom prst="rect">
            <a:avLst/>
          </a:prstGeom>
          <a:noFill/>
        </p:spPr>
        <p:txBody>
          <a:bodyPr wrap="square">
            <a:spAutoFit/>
          </a:bodyPr>
          <a:lstStyle/>
          <a:p>
            <a:pPr algn="l"/>
            <a:r>
              <a:rPr sz="2000" b="1" i="0">
                <a:solidFill>
                  <a:srgbClr val="E86070"/>
                </a:solidFill>
                <a:latin typeface="Microsoft YaHei"/>
              </a:rPr>
              <a:t>2.</a:t>
            </a:r>
          </a:p>
        </p:txBody>
      </p:sp>
      <p:sp>
        <p:nvSpPr>
          <p:cNvPr id="8" name="TextBox 7"/>
          <p:cNvSpPr txBox="1"/>
          <p:nvPr/>
        </p:nvSpPr>
        <p:spPr>
          <a:xfrm>
            <a:off x="1462674" y="2606040"/>
            <a:ext cx="4144243" cy="685800"/>
          </a:xfrm>
          <a:prstGeom prst="rect">
            <a:avLst/>
          </a:prstGeom>
          <a:noFill/>
        </p:spPr>
        <p:txBody>
          <a:bodyPr wrap="square">
            <a:spAutoFit/>
          </a:bodyPr>
          <a:lstStyle/>
          <a:p>
            <a:pPr algn="l"/>
            <a:r>
              <a:rPr sz="2000" b="0" i="0">
                <a:solidFill>
                  <a:srgbClr val="1A1A2E"/>
                </a:solidFill>
                <a:latin typeface="Microsoft YaHei"/>
              </a:rPr>
              <a:t>Characteristics 特征</a:t>
            </a:r>
          </a:p>
        </p:txBody>
      </p:sp>
      <p:sp>
        <p:nvSpPr>
          <p:cNvPr id="9" name="TextBox 8"/>
          <p:cNvSpPr txBox="1"/>
          <p:nvPr/>
        </p:nvSpPr>
        <p:spPr>
          <a:xfrm>
            <a:off x="731337" y="3566160"/>
            <a:ext cx="731337" cy="685800"/>
          </a:xfrm>
          <a:prstGeom prst="rect">
            <a:avLst/>
          </a:prstGeom>
          <a:noFill/>
        </p:spPr>
        <p:txBody>
          <a:bodyPr wrap="square">
            <a:spAutoFit/>
          </a:bodyPr>
          <a:lstStyle/>
          <a:p>
            <a:pPr algn="l"/>
            <a:r>
              <a:rPr sz="2000" b="1" i="0">
                <a:solidFill>
                  <a:srgbClr val="E86070"/>
                </a:solidFill>
                <a:latin typeface="Microsoft YaHei"/>
              </a:rPr>
              <a:t>3.</a:t>
            </a:r>
          </a:p>
        </p:txBody>
      </p:sp>
      <p:sp>
        <p:nvSpPr>
          <p:cNvPr id="10" name="TextBox 9"/>
          <p:cNvSpPr txBox="1"/>
          <p:nvPr/>
        </p:nvSpPr>
        <p:spPr>
          <a:xfrm>
            <a:off x="1462674" y="3566160"/>
            <a:ext cx="4144243" cy="685800"/>
          </a:xfrm>
          <a:prstGeom prst="rect">
            <a:avLst/>
          </a:prstGeom>
          <a:noFill/>
        </p:spPr>
        <p:txBody>
          <a:bodyPr wrap="square">
            <a:spAutoFit/>
          </a:bodyPr>
          <a:lstStyle/>
          <a:p>
            <a:pPr algn="l"/>
            <a:r>
              <a:rPr sz="2000" b="0" i="0">
                <a:solidFill>
                  <a:srgbClr val="1A1A2E"/>
                </a:solidFill>
                <a:latin typeface="Microsoft YaHei"/>
              </a:rPr>
              <a:t>Pass Down 传承</a:t>
            </a:r>
          </a:p>
        </p:txBody>
      </p:sp>
      <p:sp>
        <p:nvSpPr>
          <p:cNvPr id="11" name="TextBox 10"/>
          <p:cNvSpPr txBox="1"/>
          <p:nvPr/>
        </p:nvSpPr>
        <p:spPr>
          <a:xfrm>
            <a:off x="731337" y="4526280"/>
            <a:ext cx="731337" cy="685800"/>
          </a:xfrm>
          <a:prstGeom prst="rect">
            <a:avLst/>
          </a:prstGeom>
          <a:noFill/>
        </p:spPr>
        <p:txBody>
          <a:bodyPr wrap="square">
            <a:spAutoFit/>
          </a:bodyPr>
          <a:lstStyle/>
          <a:p>
            <a:pPr algn="l"/>
            <a:r>
              <a:rPr sz="2000" b="1" i="0">
                <a:solidFill>
                  <a:srgbClr val="E86070"/>
                </a:solidFill>
                <a:latin typeface="Microsoft YaHei"/>
              </a:rPr>
              <a:t>4.</a:t>
            </a:r>
          </a:p>
        </p:txBody>
      </p:sp>
      <p:sp>
        <p:nvSpPr>
          <p:cNvPr id="12" name="TextBox 11"/>
          <p:cNvSpPr txBox="1"/>
          <p:nvPr/>
        </p:nvSpPr>
        <p:spPr>
          <a:xfrm>
            <a:off x="1462674" y="4526280"/>
            <a:ext cx="4144243" cy="685800"/>
          </a:xfrm>
          <a:prstGeom prst="rect">
            <a:avLst/>
          </a:prstGeom>
          <a:noFill/>
        </p:spPr>
        <p:txBody>
          <a:bodyPr wrap="square">
            <a:spAutoFit/>
          </a:bodyPr>
          <a:lstStyle/>
          <a:p>
            <a:pPr algn="l"/>
            <a:r>
              <a:rPr sz="2000" b="0" i="0">
                <a:solidFill>
                  <a:srgbClr val="1A1A2E"/>
                </a:solidFill>
                <a:latin typeface="Microsoft YaHei"/>
              </a:rPr>
              <a:t>Influence 影响</a:t>
            </a:r>
          </a:p>
        </p:txBody>
      </p:sp>
      <p:sp>
        <p:nvSpPr>
          <p:cNvPr id="13" name="Oval 12"/>
          <p:cNvSpPr/>
          <p:nvPr/>
        </p:nvSpPr>
        <p:spPr>
          <a:xfrm>
            <a:off x="731337" y="4937760"/>
            <a:ext cx="1462674" cy="1234440"/>
          </a:xfrm>
          <a:prstGeom prst="ellipse">
            <a:avLst/>
          </a:prstGeom>
          <a:solidFill>
            <a:srgbClr val="B8D8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1218895" y="4389120"/>
            <a:ext cx="1218895" cy="960120"/>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38255" y="411480"/>
            <a:ext cx="5606917" cy="6035040"/>
          </a:xfrm>
          <a:prstGeom prst="rect">
            <a:avLst/>
          </a:prstGeom>
          <a:solidFill>
            <a:srgbClr val="D8EDB0"/>
          </a:solidFill>
          <a:ln w="19050">
            <a:solidFill>
              <a:srgbClr val="5AA8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82034" y="617220"/>
            <a:ext cx="5119359" cy="548640"/>
          </a:xfrm>
          <a:prstGeom prst="rect">
            <a:avLst/>
          </a:prstGeom>
          <a:noFill/>
        </p:spPr>
        <p:txBody>
          <a:bodyPr wrap="square">
            <a:spAutoFit/>
          </a:bodyPr>
          <a:lstStyle/>
          <a:p>
            <a:pPr algn="l"/>
            <a:r>
              <a:rPr sz="2200" b="1" i="0">
                <a:solidFill>
                  <a:srgbClr val="2E7A3C"/>
                </a:solidFill>
                <a:latin typeface="Georgia"/>
              </a:rPr>
              <a:t>The Origin  起源</a:t>
            </a:r>
          </a:p>
        </p:txBody>
      </p:sp>
      <p:sp>
        <p:nvSpPr>
          <p:cNvPr id="17" name="TextBox 16"/>
          <p:cNvSpPr txBox="1"/>
          <p:nvPr/>
        </p:nvSpPr>
        <p:spPr>
          <a:xfrm>
            <a:off x="6582034" y="1303020"/>
            <a:ext cx="5119359" cy="4114800"/>
          </a:xfrm>
          <a:prstGeom prst="rect">
            <a:avLst/>
          </a:prstGeom>
          <a:noFill/>
        </p:spPr>
        <p:txBody>
          <a:bodyPr wrap="square">
            <a:spAutoFit/>
          </a:bodyPr>
          <a:lstStyle/>
          <a:p>
            <a:pPr algn="l"/>
            <a:r>
              <a:rPr sz="1400" b="0" i="0">
                <a:solidFill>
                  <a:srgbClr val="1A1A2E"/>
                </a:solidFill>
                <a:latin typeface="Georgia"/>
              </a:rPr>
              <a:t>The Twenty-Four Solar Terms were invented by ancient Chinese people.
Long long ago, people lived by farming. They watched the sun, the weather and plant changes, and summed up the Twenty-Four Solar Terms little by little.
Solar Terms tell us when to plant seeds and when to harvest crops, making farming easier. Now, we still use Solar Terms to know the seasons and weather.</a:t>
            </a:r>
          </a:p>
        </p:txBody>
      </p:sp>
      <p:sp>
        <p:nvSpPr>
          <p:cNvPr id="18" name="Oval 17"/>
          <p:cNvSpPr/>
          <p:nvPr/>
        </p:nvSpPr>
        <p:spPr>
          <a:xfrm>
            <a:off x="9263603" y="4937760"/>
            <a:ext cx="731337" cy="685800"/>
          </a:xfrm>
          <a:prstGeom prst="ellipse">
            <a:avLst/>
          </a:prstGeom>
          <a:solidFill>
            <a:srgbClr val="EE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9385493" y="4457700"/>
            <a:ext cx="548502" cy="548640"/>
          </a:xfrm>
          <a:prstGeom prst="ellipse">
            <a:avLst/>
          </a:prstGeom>
          <a:solidFill>
            <a:srgbClr val="EE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446437" y="4251960"/>
            <a:ext cx="426613" cy="274320"/>
          </a:xfrm>
          <a:prstGeom prst="rect">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0482498" y="5074920"/>
            <a:ext cx="853226" cy="822960"/>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10665333" y="4800600"/>
            <a:ext cx="548502" cy="480060"/>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18007" y="1371600"/>
            <a:ext cx="182880" cy="114300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37947" y="571500"/>
            <a:ext cx="800100" cy="13716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723747" y="800100"/>
            <a:ext cx="685800" cy="13716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266547" y="228600"/>
            <a:ext cx="502920" cy="11430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759256" y="1371600"/>
            <a:ext cx="182880" cy="114300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279196" y="571500"/>
            <a:ext cx="800100" cy="13716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964996" y="800100"/>
            <a:ext cx="685800" cy="13716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07796" y="228600"/>
            <a:ext cx="502920" cy="11430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88064" y="1371600"/>
            <a:ext cx="182880" cy="114300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008004" y="571500"/>
            <a:ext cx="800100" cy="13716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693804" y="800100"/>
            <a:ext cx="685800" cy="13716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236604" y="228600"/>
            <a:ext cx="502920" cy="11430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0" y="5143500"/>
            <a:ext cx="12188952" cy="548640"/>
          </a:xfrm>
          <a:prstGeom prst="rect">
            <a:avLst/>
          </a:prstGeom>
          <a:solidFill>
            <a:srgbClr val="B8D8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5692140"/>
            <a:ext cx="12188952" cy="1165860"/>
          </a:xfrm>
          <a:prstGeom prst="rect">
            <a:avLst/>
          </a:prstGeom>
          <a:solidFill>
            <a:srgbClr val="F9E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09447" y="342900"/>
            <a:ext cx="2437790" cy="822960"/>
          </a:xfrm>
          <a:prstGeom prst="rect">
            <a:avLst/>
          </a:prstGeom>
          <a:noFill/>
        </p:spPr>
        <p:txBody>
          <a:bodyPr wrap="square">
            <a:spAutoFit/>
          </a:bodyPr>
          <a:lstStyle/>
          <a:p>
            <a:pPr algn="l"/>
            <a:r>
              <a:rPr sz="3000" b="1" i="0">
                <a:solidFill>
                  <a:srgbClr val="1A1A2E"/>
                </a:solidFill>
                <a:latin typeface="Microsoft YaHei"/>
              </a:rPr>
              <a:t>立春</a:t>
            </a:r>
          </a:p>
        </p:txBody>
      </p:sp>
      <p:sp>
        <p:nvSpPr>
          <p:cNvPr id="18" name="TextBox 17"/>
          <p:cNvSpPr txBox="1"/>
          <p:nvPr/>
        </p:nvSpPr>
        <p:spPr>
          <a:xfrm>
            <a:off x="609447" y="1165860"/>
            <a:ext cx="3900464" cy="548640"/>
          </a:xfrm>
          <a:prstGeom prst="rect">
            <a:avLst/>
          </a:prstGeom>
          <a:noFill/>
        </p:spPr>
        <p:txBody>
          <a:bodyPr wrap="square">
            <a:spAutoFit/>
          </a:bodyPr>
          <a:lstStyle/>
          <a:p>
            <a:pPr algn="l"/>
            <a:r>
              <a:rPr sz="1800" b="1" i="0">
                <a:solidFill>
                  <a:srgbClr val="4A3010"/>
                </a:solidFill>
                <a:latin typeface="Georgia"/>
              </a:rPr>
              <a:t>Start of Spring</a:t>
            </a:r>
          </a:p>
        </p:txBody>
      </p:sp>
      <p:sp>
        <p:nvSpPr>
          <p:cNvPr id="19" name="TextBox 18"/>
          <p:cNvSpPr txBox="1"/>
          <p:nvPr/>
        </p:nvSpPr>
        <p:spPr>
          <a:xfrm>
            <a:off x="609447" y="1783080"/>
            <a:ext cx="4631801" cy="548640"/>
          </a:xfrm>
          <a:prstGeom prst="rect">
            <a:avLst/>
          </a:prstGeom>
          <a:noFill/>
        </p:spPr>
        <p:txBody>
          <a:bodyPr wrap="square">
            <a:spAutoFit/>
          </a:bodyPr>
          <a:lstStyle/>
          <a:p>
            <a:pPr algn="l"/>
            <a:r>
              <a:rPr sz="1300" b="0" i="1">
                <a:solidFill>
                  <a:srgbClr val="4A3010"/>
                </a:solidFill>
                <a:latin typeface="Georgia"/>
              </a:rPr>
              <a:t>Spring begins. It gets warmer.</a:t>
            </a:r>
          </a:p>
        </p:txBody>
      </p:sp>
      <p:sp>
        <p:nvSpPr>
          <p:cNvPr id="20" name="Oval 19"/>
          <p:cNvSpPr/>
          <p:nvPr/>
        </p:nvSpPr>
        <p:spPr>
          <a:xfrm>
            <a:off x="975116" y="3017520"/>
            <a:ext cx="2681569" cy="1645920"/>
          </a:xfrm>
          <a:prstGeom prst="ellipse">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3047238" y="2743200"/>
            <a:ext cx="1097005" cy="822960"/>
          </a:xfrm>
          <a:prstGeom prst="ellipse">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462674" y="3017520"/>
            <a:ext cx="1218895" cy="822960"/>
          </a:xfrm>
          <a:prstGeom prst="rect">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218895" y="4663440"/>
            <a:ext cx="243779" cy="54864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950232" y="4663440"/>
            <a:ext cx="243779" cy="54864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2681569" y="4663440"/>
            <a:ext cx="243779" cy="54864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169127" y="4663440"/>
            <a:ext cx="243779" cy="54864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75116" y="3154680"/>
            <a:ext cx="243779" cy="54864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557150" y="342900"/>
            <a:ext cx="1828342" cy="822960"/>
          </a:xfrm>
          <a:prstGeom prst="rect">
            <a:avLst/>
          </a:prstGeom>
          <a:noFill/>
        </p:spPr>
        <p:txBody>
          <a:bodyPr wrap="square">
            <a:spAutoFit/>
          </a:bodyPr>
          <a:lstStyle/>
          <a:p>
            <a:pPr algn="l"/>
            <a:r>
              <a:rPr sz="3000" b="1" i="0">
                <a:solidFill>
                  <a:srgbClr val="1A1A2E"/>
                </a:solidFill>
                <a:latin typeface="Microsoft YaHei"/>
              </a:rPr>
              <a:t>雨水</a:t>
            </a:r>
          </a:p>
        </p:txBody>
      </p:sp>
      <p:sp>
        <p:nvSpPr>
          <p:cNvPr id="29" name="TextBox 28"/>
          <p:cNvSpPr txBox="1"/>
          <p:nvPr/>
        </p:nvSpPr>
        <p:spPr>
          <a:xfrm>
            <a:off x="7557150" y="1234440"/>
            <a:ext cx="3900464" cy="548640"/>
          </a:xfrm>
          <a:prstGeom prst="rect">
            <a:avLst/>
          </a:prstGeom>
          <a:noFill/>
        </p:spPr>
        <p:txBody>
          <a:bodyPr wrap="square">
            <a:spAutoFit/>
          </a:bodyPr>
          <a:lstStyle/>
          <a:p>
            <a:pPr algn="l"/>
            <a:r>
              <a:rPr sz="1800" b="1" i="0">
                <a:solidFill>
                  <a:srgbClr val="4A3010"/>
                </a:solidFill>
                <a:latin typeface="Georgia"/>
              </a:rPr>
              <a:t>Rain Water</a:t>
            </a:r>
          </a:p>
        </p:txBody>
      </p:sp>
      <p:sp>
        <p:nvSpPr>
          <p:cNvPr id="30" name="TextBox 29"/>
          <p:cNvSpPr txBox="1"/>
          <p:nvPr/>
        </p:nvSpPr>
        <p:spPr>
          <a:xfrm>
            <a:off x="7557150" y="1851660"/>
            <a:ext cx="4144243" cy="548640"/>
          </a:xfrm>
          <a:prstGeom prst="rect">
            <a:avLst/>
          </a:prstGeom>
          <a:noFill/>
        </p:spPr>
        <p:txBody>
          <a:bodyPr wrap="square">
            <a:spAutoFit/>
          </a:bodyPr>
          <a:lstStyle/>
          <a:p>
            <a:pPr algn="l"/>
            <a:r>
              <a:rPr sz="1300" b="0" i="1">
                <a:solidFill>
                  <a:srgbClr val="4A3010"/>
                </a:solidFill>
                <a:latin typeface="Georgia"/>
              </a:rPr>
              <a:t>More rain. Everything grows.</a:t>
            </a:r>
          </a:p>
        </p:txBody>
      </p:sp>
      <p:sp>
        <p:nvSpPr>
          <p:cNvPr id="31" name="Oval 30"/>
          <p:cNvSpPr/>
          <p:nvPr/>
        </p:nvSpPr>
        <p:spPr>
          <a:xfrm>
            <a:off x="6703923" y="260604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679039" y="260604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54155" y="260604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9629272" y="260604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703923" y="342900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7679039" y="342900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8654155" y="342900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9629272" y="342900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703923" y="425196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7679039" y="425196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8654155" y="425196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9629272" y="4251960"/>
            <a:ext cx="73152" cy="118872"/>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9050182" y="3497580"/>
            <a:ext cx="914400" cy="457200"/>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9479950" y="3771900"/>
            <a:ext cx="54864" cy="45720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6338255" y="2400300"/>
            <a:ext cx="975116" cy="36576"/>
          </a:xfrm>
          <a:prstGeom prst="rect">
            <a:avLst/>
          </a:prstGeom>
          <a:solidFill>
            <a:srgbClr val="3AA89A">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338255" y="3086100"/>
            <a:ext cx="975116" cy="36576"/>
          </a:xfrm>
          <a:prstGeom prst="rect">
            <a:avLst/>
          </a:prstGeom>
          <a:solidFill>
            <a:srgbClr val="3AA89A">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6338255" y="3771900"/>
            <a:ext cx="975116" cy="36576"/>
          </a:xfrm>
          <a:prstGeom prst="rect">
            <a:avLst/>
          </a:prstGeom>
          <a:solidFill>
            <a:srgbClr val="3AA89A">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D0E8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972586" y="342900"/>
            <a:ext cx="36576" cy="6172200"/>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49240"/>
            <a:ext cx="12188952" cy="1508760"/>
          </a:xfrm>
          <a:prstGeom prst="rect">
            <a:avLst/>
          </a:prstGeom>
          <a:solidFill>
            <a:srgbClr val="B8D8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9447" y="4800600"/>
            <a:ext cx="4266133" cy="1371600"/>
          </a:xfrm>
          <a:prstGeom prst="ellipse">
            <a:avLst/>
          </a:prstGeom>
          <a:solidFill>
            <a:srgbClr val="C8E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6338255" y="4800600"/>
            <a:ext cx="4875580" cy="1371600"/>
          </a:xfrm>
          <a:prstGeom prst="ellipse">
            <a:avLst/>
          </a:prstGeom>
          <a:solidFill>
            <a:srgbClr val="C8E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09447" y="411480"/>
            <a:ext cx="2437790" cy="685800"/>
          </a:xfrm>
          <a:prstGeom prst="rect">
            <a:avLst/>
          </a:prstGeom>
          <a:noFill/>
        </p:spPr>
        <p:txBody>
          <a:bodyPr wrap="square">
            <a:spAutoFit/>
          </a:bodyPr>
          <a:lstStyle/>
          <a:p>
            <a:pPr algn="l"/>
            <a:r>
              <a:rPr sz="3000" b="1" i="0">
                <a:solidFill>
                  <a:srgbClr val="1A1A2E"/>
                </a:solidFill>
                <a:latin typeface="Microsoft YaHei"/>
              </a:rPr>
              <a:t>惊蛰</a:t>
            </a:r>
          </a:p>
        </p:txBody>
      </p:sp>
      <p:sp>
        <p:nvSpPr>
          <p:cNvPr id="8" name="TextBox 7"/>
          <p:cNvSpPr txBox="1"/>
          <p:nvPr/>
        </p:nvSpPr>
        <p:spPr>
          <a:xfrm>
            <a:off x="609447" y="1234440"/>
            <a:ext cx="4631801" cy="480060"/>
          </a:xfrm>
          <a:prstGeom prst="rect">
            <a:avLst/>
          </a:prstGeom>
          <a:noFill/>
        </p:spPr>
        <p:txBody>
          <a:bodyPr wrap="square">
            <a:spAutoFit/>
          </a:bodyPr>
          <a:lstStyle/>
          <a:p>
            <a:pPr algn="l"/>
            <a:r>
              <a:rPr sz="1700" b="1" i="0">
                <a:solidFill>
                  <a:srgbClr val="2E7A3C"/>
                </a:solidFill>
                <a:latin typeface="Georgia"/>
              </a:rPr>
              <a:t>Awakening of Insects</a:t>
            </a:r>
          </a:p>
        </p:txBody>
      </p:sp>
      <p:sp>
        <p:nvSpPr>
          <p:cNvPr id="9" name="TextBox 8"/>
          <p:cNvSpPr txBox="1"/>
          <p:nvPr/>
        </p:nvSpPr>
        <p:spPr>
          <a:xfrm>
            <a:off x="609447" y="1783080"/>
            <a:ext cx="4875580" cy="685800"/>
          </a:xfrm>
          <a:prstGeom prst="rect">
            <a:avLst/>
          </a:prstGeom>
          <a:noFill/>
        </p:spPr>
        <p:txBody>
          <a:bodyPr wrap="square">
            <a:spAutoFit/>
          </a:bodyPr>
          <a:lstStyle/>
          <a:p>
            <a:pPr algn="l"/>
            <a:r>
              <a:rPr sz="1300" b="0" i="1">
                <a:solidFill>
                  <a:srgbClr val="1A1A2E"/>
                </a:solidFill>
                <a:latin typeface="Georgia"/>
              </a:rPr>
              <a:t>Thunder wakes the sleeping insects.
Spring warmth fills the earth.</a:t>
            </a:r>
          </a:p>
        </p:txBody>
      </p:sp>
      <p:sp>
        <p:nvSpPr>
          <p:cNvPr id="10" name="Rectangle 9"/>
          <p:cNvSpPr/>
          <p:nvPr/>
        </p:nvSpPr>
        <p:spPr>
          <a:xfrm>
            <a:off x="3900464" y="2606040"/>
            <a:ext cx="109728" cy="347472"/>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845600" y="2788920"/>
            <a:ext cx="164592" cy="109728"/>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81569" y="3840480"/>
            <a:ext cx="256032" cy="201168"/>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2782153" y="3749040"/>
            <a:ext cx="128016" cy="128016"/>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736433" y="3877056"/>
            <a:ext cx="45720" cy="4572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2736433" y="3950208"/>
            <a:ext cx="45720" cy="4572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2827873" y="3877056"/>
            <a:ext cx="45720" cy="4572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827873" y="3950208"/>
            <a:ext cx="45720" cy="4572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218895" y="3977639"/>
            <a:ext cx="45720" cy="201168"/>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3226" y="3703320"/>
            <a:ext cx="164592" cy="91440"/>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1218895" y="3429000"/>
            <a:ext cx="128016" cy="9144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82034" y="411480"/>
            <a:ext cx="2437790" cy="685800"/>
          </a:xfrm>
          <a:prstGeom prst="rect">
            <a:avLst/>
          </a:prstGeom>
          <a:noFill/>
        </p:spPr>
        <p:txBody>
          <a:bodyPr wrap="square">
            <a:spAutoFit/>
          </a:bodyPr>
          <a:lstStyle/>
          <a:p>
            <a:pPr algn="l"/>
            <a:r>
              <a:rPr sz="3000" b="1" i="0">
                <a:solidFill>
                  <a:srgbClr val="1A1A2E"/>
                </a:solidFill>
                <a:latin typeface="Microsoft YaHei"/>
              </a:rPr>
              <a:t>春分</a:t>
            </a:r>
          </a:p>
        </p:txBody>
      </p:sp>
      <p:sp>
        <p:nvSpPr>
          <p:cNvPr id="22" name="TextBox 21"/>
          <p:cNvSpPr txBox="1"/>
          <p:nvPr/>
        </p:nvSpPr>
        <p:spPr>
          <a:xfrm>
            <a:off x="6582034" y="1234440"/>
            <a:ext cx="4875580" cy="480060"/>
          </a:xfrm>
          <a:prstGeom prst="rect">
            <a:avLst/>
          </a:prstGeom>
          <a:noFill/>
        </p:spPr>
        <p:txBody>
          <a:bodyPr wrap="square">
            <a:spAutoFit/>
          </a:bodyPr>
          <a:lstStyle/>
          <a:p>
            <a:pPr algn="l"/>
            <a:r>
              <a:rPr sz="1700" b="1" i="0">
                <a:solidFill>
                  <a:srgbClr val="2E7A3C"/>
                </a:solidFill>
                <a:latin typeface="Georgia"/>
              </a:rPr>
              <a:t>Spring Equinox</a:t>
            </a:r>
          </a:p>
        </p:txBody>
      </p:sp>
      <p:sp>
        <p:nvSpPr>
          <p:cNvPr id="23" name="TextBox 22"/>
          <p:cNvSpPr txBox="1"/>
          <p:nvPr/>
        </p:nvSpPr>
        <p:spPr>
          <a:xfrm>
            <a:off x="6582034" y="1783080"/>
            <a:ext cx="5119359" cy="685800"/>
          </a:xfrm>
          <a:prstGeom prst="rect">
            <a:avLst/>
          </a:prstGeom>
          <a:noFill/>
        </p:spPr>
        <p:txBody>
          <a:bodyPr wrap="square">
            <a:spAutoFit/>
          </a:bodyPr>
          <a:lstStyle/>
          <a:p>
            <a:pPr algn="l"/>
            <a:r>
              <a:rPr sz="1300" b="0" i="1">
                <a:solidFill>
                  <a:srgbClr val="1A1A2E"/>
                </a:solidFill>
                <a:latin typeface="Georgia"/>
              </a:rPr>
              <a:t>Day and night are equal length.
Flowers bloom everywhere.</a:t>
            </a:r>
          </a:p>
        </p:txBody>
      </p:sp>
      <p:sp>
        <p:nvSpPr>
          <p:cNvPr id="24" name="Oval 23"/>
          <p:cNvSpPr/>
          <p:nvPr/>
        </p:nvSpPr>
        <p:spPr>
          <a:xfrm>
            <a:off x="9339681" y="1097280"/>
            <a:ext cx="822960" cy="822960"/>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703923" y="4251960"/>
            <a:ext cx="36576" cy="201168"/>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630771" y="3840480"/>
            <a:ext cx="182880" cy="14630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667347" y="3909059"/>
            <a:ext cx="109728"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679039" y="4251960"/>
            <a:ext cx="36576" cy="201168"/>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7605887" y="3840480"/>
            <a:ext cx="182880" cy="14630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642463" y="3909059"/>
            <a:ext cx="109728"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654155" y="4251960"/>
            <a:ext cx="36576" cy="201168"/>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8581003" y="3840480"/>
            <a:ext cx="182880" cy="14630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617579" y="3909059"/>
            <a:ext cx="109728"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9751161" y="4251960"/>
            <a:ext cx="36576" cy="201168"/>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678009" y="3840480"/>
            <a:ext cx="182880" cy="14630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714585" y="3909059"/>
            <a:ext cx="109728"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726277" y="4251960"/>
            <a:ext cx="36576" cy="201168"/>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53125" y="3840480"/>
            <a:ext cx="182880" cy="146304"/>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10689701" y="3909059"/>
            <a:ext cx="109728"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897934" y="2743200"/>
            <a:ext cx="201168" cy="128016"/>
          </a:xfrm>
          <a:prstGeom prst="ellipse">
            <a:avLst/>
          </a:prstGeom>
          <a:solidFill>
            <a:srgbClr val="FF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9044238" y="2743200"/>
            <a:ext cx="201168" cy="128016"/>
          </a:xfrm>
          <a:prstGeom prst="ellipse">
            <a:avLst/>
          </a:prstGeom>
          <a:solidFill>
            <a:srgbClr val="FFA0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8961942" y="2697480"/>
            <a:ext cx="73152" cy="182880"/>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CD8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5349240"/>
            <a:ext cx="12188952" cy="1508760"/>
          </a:xfrm>
          <a:prstGeom prst="rect">
            <a:avLst/>
          </a:prstGeom>
          <a:solidFill>
            <a:srgbClr val="C8E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972586" y="342900"/>
            <a:ext cx="36576" cy="6172200"/>
          </a:xfrm>
          <a:prstGeom prst="rect">
            <a:avLst/>
          </a:prstGeom>
          <a:solidFill>
            <a:srgbClr val="BBB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668" y="548640"/>
            <a:ext cx="1462674" cy="1508760"/>
          </a:xfrm>
          <a:prstGeom prst="rect">
            <a:avLst/>
          </a:prstGeom>
          <a:noFill/>
        </p:spPr>
        <p:txBody>
          <a:bodyPr wrap="square">
            <a:spAutoFit/>
          </a:bodyPr>
          <a:lstStyle/>
          <a:p>
            <a:pPr algn="l"/>
            <a:r>
              <a:rPr sz="2800" b="1" i="0">
                <a:solidFill>
                  <a:srgbClr val="1A1A2E"/>
                </a:solidFill>
                <a:latin typeface="Microsoft YaHei"/>
              </a:rPr>
              <a:t>清
明</a:t>
            </a:r>
          </a:p>
        </p:txBody>
      </p:sp>
      <p:sp>
        <p:nvSpPr>
          <p:cNvPr id="6" name="TextBox 5"/>
          <p:cNvSpPr txBox="1"/>
          <p:nvPr/>
        </p:nvSpPr>
        <p:spPr>
          <a:xfrm>
            <a:off x="1706453" y="548640"/>
            <a:ext cx="3900464" cy="548640"/>
          </a:xfrm>
          <a:prstGeom prst="rect">
            <a:avLst/>
          </a:prstGeom>
          <a:noFill/>
        </p:spPr>
        <p:txBody>
          <a:bodyPr wrap="square">
            <a:spAutoFit/>
          </a:bodyPr>
          <a:lstStyle/>
          <a:p>
            <a:pPr algn="l"/>
            <a:r>
              <a:rPr sz="1800" b="1" i="0">
                <a:solidFill>
                  <a:srgbClr val="1A1A2E"/>
                </a:solidFill>
                <a:latin typeface="Georgia"/>
              </a:rPr>
              <a:t>Clear and Bright</a:t>
            </a:r>
          </a:p>
        </p:txBody>
      </p:sp>
      <p:sp>
        <p:nvSpPr>
          <p:cNvPr id="7" name="TextBox 6"/>
          <p:cNvSpPr txBox="1"/>
          <p:nvPr/>
        </p:nvSpPr>
        <p:spPr>
          <a:xfrm>
            <a:off x="1706453" y="1165860"/>
            <a:ext cx="3900464" cy="548640"/>
          </a:xfrm>
          <a:prstGeom prst="rect">
            <a:avLst/>
          </a:prstGeom>
          <a:noFill/>
        </p:spPr>
        <p:txBody>
          <a:bodyPr wrap="square">
            <a:spAutoFit/>
          </a:bodyPr>
          <a:lstStyle/>
          <a:p>
            <a:pPr algn="l"/>
            <a:r>
              <a:rPr sz="1300" b="0" i="1">
                <a:solidFill>
                  <a:srgbClr val="4A3010"/>
                </a:solidFill>
                <a:latin typeface="Georgia"/>
              </a:rPr>
              <a:t>Sunny day for outings.</a:t>
            </a:r>
          </a:p>
        </p:txBody>
      </p:sp>
      <p:sp>
        <p:nvSpPr>
          <p:cNvPr id="8" name="Oval 7"/>
          <p:cNvSpPr/>
          <p:nvPr/>
        </p:nvSpPr>
        <p:spPr>
          <a:xfrm>
            <a:off x="609447" y="2400300"/>
            <a:ext cx="4266133" cy="3429000"/>
          </a:xfrm>
          <a:prstGeom prst="ellipse">
            <a:avLst/>
          </a:prstGeom>
          <a:solidFill>
            <a:srgbClr val="F0A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243779" y="2880360"/>
            <a:ext cx="2681569" cy="2880360"/>
          </a:xfrm>
          <a:prstGeom prst="ellipse">
            <a:avLst/>
          </a:prstGeom>
          <a:solidFill>
            <a:srgbClr val="AA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194011" y="2468880"/>
            <a:ext cx="1462674" cy="822960"/>
          </a:xfrm>
          <a:prstGeom prst="rect">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950232" y="2057400"/>
            <a:ext cx="1950232" cy="54864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2437790" y="2674620"/>
            <a:ext cx="365668" cy="27432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047238" y="2674620"/>
            <a:ext cx="365668" cy="27432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462674" y="2606040"/>
            <a:ext cx="64008" cy="32004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975116" y="1920240"/>
            <a:ext cx="1218895" cy="96012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975116" y="822960"/>
            <a:ext cx="228600" cy="292608"/>
          </a:xfrm>
          <a:prstGeom prst="ellipse">
            <a:avLst/>
          </a:prstGeom>
          <a:solidFill>
            <a:srgbClr val="DDCC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066556" y="868680"/>
            <a:ext cx="54864" cy="182880"/>
          </a:xfrm>
          <a:prstGeom prst="rect">
            <a:avLst/>
          </a:prstGeom>
          <a:solidFill>
            <a:srgbClr val="448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084844" y="1115568"/>
            <a:ext cx="18288" cy="45720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950232" y="3291840"/>
            <a:ext cx="182880" cy="182880"/>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950232" y="3771900"/>
            <a:ext cx="182880" cy="256032"/>
          </a:xfrm>
          <a:prstGeom prst="rect">
            <a:avLst/>
          </a:prstGeom>
          <a:solidFill>
            <a:srgbClr val="FF8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950232" y="4027932"/>
            <a:ext cx="73152" cy="164592"/>
          </a:xfrm>
          <a:prstGeom prst="rect">
            <a:avLst/>
          </a:prstGeom>
          <a:solidFill>
            <a:srgbClr val="55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2059960" y="4027932"/>
            <a:ext cx="73152" cy="164592"/>
          </a:xfrm>
          <a:prstGeom prst="rect">
            <a:avLst/>
          </a:prstGeom>
          <a:solidFill>
            <a:srgbClr val="5544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82498" y="1714500"/>
            <a:ext cx="1462674" cy="1508760"/>
          </a:xfrm>
          <a:prstGeom prst="rect">
            <a:avLst/>
          </a:prstGeom>
          <a:noFill/>
        </p:spPr>
        <p:txBody>
          <a:bodyPr wrap="square">
            <a:spAutoFit/>
          </a:bodyPr>
          <a:lstStyle/>
          <a:p>
            <a:pPr algn="l"/>
            <a:r>
              <a:rPr sz="2800" b="1" i="0">
                <a:solidFill>
                  <a:srgbClr val="1A1A2E"/>
                </a:solidFill>
                <a:latin typeface="Microsoft YaHei"/>
              </a:rPr>
              <a:t>谷
雨</a:t>
            </a:r>
          </a:p>
        </p:txBody>
      </p:sp>
      <p:sp>
        <p:nvSpPr>
          <p:cNvPr id="24" name="TextBox 23"/>
          <p:cNvSpPr txBox="1"/>
          <p:nvPr/>
        </p:nvSpPr>
        <p:spPr>
          <a:xfrm>
            <a:off x="6338255" y="548640"/>
            <a:ext cx="3900464" cy="548640"/>
          </a:xfrm>
          <a:prstGeom prst="rect">
            <a:avLst/>
          </a:prstGeom>
          <a:noFill/>
        </p:spPr>
        <p:txBody>
          <a:bodyPr wrap="square">
            <a:spAutoFit/>
          </a:bodyPr>
          <a:lstStyle/>
          <a:p>
            <a:pPr algn="l"/>
            <a:r>
              <a:rPr sz="1800" b="1" i="0">
                <a:solidFill>
                  <a:srgbClr val="1A1A2E"/>
                </a:solidFill>
                <a:latin typeface="Georgia"/>
              </a:rPr>
              <a:t>Grain Rain</a:t>
            </a:r>
          </a:p>
        </p:txBody>
      </p:sp>
      <p:sp>
        <p:nvSpPr>
          <p:cNvPr id="25" name="TextBox 24"/>
          <p:cNvSpPr txBox="1"/>
          <p:nvPr/>
        </p:nvSpPr>
        <p:spPr>
          <a:xfrm>
            <a:off x="6338255" y="1165860"/>
            <a:ext cx="3900464" cy="548640"/>
          </a:xfrm>
          <a:prstGeom prst="rect">
            <a:avLst/>
          </a:prstGeom>
          <a:noFill/>
        </p:spPr>
        <p:txBody>
          <a:bodyPr wrap="square">
            <a:spAutoFit/>
          </a:bodyPr>
          <a:lstStyle/>
          <a:p>
            <a:pPr algn="l"/>
            <a:r>
              <a:rPr sz="1300" b="0" i="1">
                <a:solidFill>
                  <a:srgbClr val="4A3010"/>
                </a:solidFill>
                <a:latin typeface="Georgia"/>
              </a:rPr>
              <a:t>Rain helps crops grow well.</a:t>
            </a:r>
          </a:p>
        </p:txBody>
      </p:sp>
      <p:sp>
        <p:nvSpPr>
          <p:cNvPr id="26" name="Rectangle 25"/>
          <p:cNvSpPr/>
          <p:nvPr/>
        </p:nvSpPr>
        <p:spPr>
          <a:xfrm>
            <a:off x="6582034" y="205740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7252426" y="205740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922818" y="205740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593211" y="205740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9263603" y="205740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9933995" y="205740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6582034" y="267462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252426" y="267462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922818" y="267462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593211" y="267462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263603" y="267462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933995" y="267462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582034" y="329184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7252426" y="329184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7922818" y="329184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8593211" y="329184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9263603" y="329184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9933995" y="329184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6582034" y="390906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7252426" y="390906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7922818" y="390906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8593211" y="390906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ectangle 47"/>
          <p:cNvSpPr/>
          <p:nvPr/>
        </p:nvSpPr>
        <p:spPr>
          <a:xfrm>
            <a:off x="9263603" y="390906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ectangle 48"/>
          <p:cNvSpPr/>
          <p:nvPr/>
        </p:nvSpPr>
        <p:spPr>
          <a:xfrm>
            <a:off x="9933995" y="3909060"/>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582034" y="4526279"/>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7252426" y="4526279"/>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922818" y="4526279"/>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8593211" y="4526279"/>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9263603" y="4526279"/>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9933995" y="4526279"/>
            <a:ext cx="365668" cy="54864"/>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Oval 55"/>
          <p:cNvSpPr/>
          <p:nvPr/>
        </p:nvSpPr>
        <p:spPr>
          <a:xfrm>
            <a:off x="9263603" y="3086100"/>
            <a:ext cx="201168" cy="201168"/>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ectangle 56"/>
          <p:cNvSpPr/>
          <p:nvPr/>
        </p:nvSpPr>
        <p:spPr>
          <a:xfrm>
            <a:off x="9254459" y="3566160"/>
            <a:ext cx="219456" cy="256032"/>
          </a:xfrm>
          <a:prstGeom prst="rect">
            <a:avLst/>
          </a:prstGeom>
          <a:solidFill>
            <a:srgbClr val="5599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9254459" y="3822192"/>
            <a:ext cx="73152" cy="164592"/>
          </a:xfrm>
          <a:prstGeom prst="rect">
            <a:avLst/>
          </a:prstGeom>
          <a:solidFill>
            <a:srgbClr val="224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ectangle 58"/>
          <p:cNvSpPr/>
          <p:nvPr/>
        </p:nvSpPr>
        <p:spPr>
          <a:xfrm>
            <a:off x="9391619" y="3822192"/>
            <a:ext cx="73152" cy="164592"/>
          </a:xfrm>
          <a:prstGeom prst="rect">
            <a:avLst/>
          </a:prstGeom>
          <a:solidFill>
            <a:srgbClr val="2244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9080723" y="2743200"/>
            <a:ext cx="45720" cy="91440"/>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Oval 60"/>
          <p:cNvSpPr/>
          <p:nvPr/>
        </p:nvSpPr>
        <p:spPr>
          <a:xfrm>
            <a:off x="9190451" y="2816352"/>
            <a:ext cx="45720" cy="91440"/>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Oval 61"/>
          <p:cNvSpPr/>
          <p:nvPr/>
        </p:nvSpPr>
        <p:spPr>
          <a:xfrm>
            <a:off x="9300178" y="2743200"/>
            <a:ext cx="45720" cy="91440"/>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Oval 62"/>
          <p:cNvSpPr/>
          <p:nvPr/>
        </p:nvSpPr>
        <p:spPr>
          <a:xfrm>
            <a:off x="9409906" y="2816352"/>
            <a:ext cx="45720" cy="91440"/>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Oval 63"/>
          <p:cNvSpPr/>
          <p:nvPr/>
        </p:nvSpPr>
        <p:spPr>
          <a:xfrm>
            <a:off x="9519634" y="2743200"/>
            <a:ext cx="45720" cy="91440"/>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Oval 64"/>
          <p:cNvSpPr/>
          <p:nvPr/>
        </p:nvSpPr>
        <p:spPr>
          <a:xfrm>
            <a:off x="9629362" y="2816352"/>
            <a:ext cx="45720" cy="91440"/>
          </a:xfrm>
          <a:prstGeom prst="ellipse">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8E6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057400"/>
          </a:xfrm>
          <a:prstGeom prst="rect">
            <a:avLst/>
          </a:prstGeom>
          <a:solidFill>
            <a:srgbClr val="A8D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88952" cy="1920240"/>
          </a:xfrm>
          <a:prstGeom prst="rect">
            <a:avLst/>
          </a:prstGeom>
          <a:solidFill>
            <a:srgbClr val="5AA8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09447" y="4114800"/>
            <a:ext cx="3656685" cy="2057400"/>
          </a:xfrm>
          <a:prstGeom prst="ellipse">
            <a:avLst/>
          </a:prstGeom>
          <a:solidFill>
            <a:srgbClr val="60B8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72586" y="342900"/>
            <a:ext cx="36576" cy="6172200"/>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360517" y="320040"/>
            <a:ext cx="731520" cy="731520"/>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668" y="342900"/>
            <a:ext cx="975116" cy="1508760"/>
          </a:xfrm>
          <a:prstGeom prst="rect">
            <a:avLst/>
          </a:prstGeom>
          <a:noFill/>
        </p:spPr>
        <p:txBody>
          <a:bodyPr wrap="square">
            <a:spAutoFit/>
          </a:bodyPr>
          <a:lstStyle/>
          <a:p>
            <a:pPr algn="l"/>
            <a:r>
              <a:rPr sz="2600" b="1" i="0">
                <a:solidFill>
                  <a:srgbClr val="1A1A2E"/>
                </a:solidFill>
                <a:latin typeface="Microsoft YaHei"/>
              </a:rPr>
              <a:t>立
夏</a:t>
            </a:r>
          </a:p>
        </p:txBody>
      </p:sp>
      <p:sp>
        <p:nvSpPr>
          <p:cNvPr id="9" name="TextBox 8"/>
          <p:cNvSpPr txBox="1"/>
          <p:nvPr/>
        </p:nvSpPr>
        <p:spPr>
          <a:xfrm>
            <a:off x="1462674" y="342900"/>
            <a:ext cx="4144243" cy="480060"/>
          </a:xfrm>
          <a:prstGeom prst="rect">
            <a:avLst/>
          </a:prstGeom>
          <a:noFill/>
        </p:spPr>
        <p:txBody>
          <a:bodyPr wrap="square">
            <a:spAutoFit/>
          </a:bodyPr>
          <a:lstStyle/>
          <a:p>
            <a:pPr algn="l"/>
            <a:r>
              <a:rPr sz="1700" b="1" i="0">
                <a:solidFill>
                  <a:srgbClr val="2E7A3C"/>
                </a:solidFill>
                <a:latin typeface="Georgia"/>
              </a:rPr>
              <a:t>Start of Summer</a:t>
            </a:r>
          </a:p>
        </p:txBody>
      </p:sp>
      <p:sp>
        <p:nvSpPr>
          <p:cNvPr id="10" name="TextBox 9"/>
          <p:cNvSpPr txBox="1"/>
          <p:nvPr/>
        </p:nvSpPr>
        <p:spPr>
          <a:xfrm>
            <a:off x="1462674" y="960120"/>
            <a:ext cx="4144243" cy="548640"/>
          </a:xfrm>
          <a:prstGeom prst="rect">
            <a:avLst/>
          </a:prstGeom>
          <a:noFill/>
        </p:spPr>
        <p:txBody>
          <a:bodyPr wrap="square">
            <a:spAutoFit/>
          </a:bodyPr>
          <a:lstStyle/>
          <a:p>
            <a:pPr algn="l"/>
            <a:r>
              <a:rPr sz="1200" b="0" i="1">
                <a:solidFill>
                  <a:srgbClr val="1A1A2E"/>
                </a:solidFill>
                <a:latin typeface="Georgia"/>
              </a:rPr>
              <a:t>Summer comes. Plants grow fast.</a:t>
            </a:r>
          </a:p>
        </p:txBody>
      </p:sp>
      <p:sp>
        <p:nvSpPr>
          <p:cNvPr id="11" name="Rectangle 10"/>
          <p:cNvSpPr/>
          <p:nvPr/>
        </p:nvSpPr>
        <p:spPr>
          <a:xfrm>
            <a:off x="3656685" y="1920240"/>
            <a:ext cx="91440" cy="54864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2681569" y="822960"/>
            <a:ext cx="2194011" cy="150876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3169127" y="548640"/>
            <a:ext cx="1462674" cy="1097280"/>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2437790" y="3017520"/>
            <a:ext cx="201168" cy="201168"/>
          </a:xfrm>
          <a:prstGeom prst="ellipse">
            <a:avLst/>
          </a:prstGeom>
          <a:solidFill>
            <a:srgbClr val="FFCC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2437790" y="3566160"/>
            <a:ext cx="201168" cy="237744"/>
          </a:xfrm>
          <a:prstGeom prst="rect">
            <a:avLst/>
          </a:prstGeom>
          <a:solidFill>
            <a:srgbClr val="44AA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2638958" y="2743200"/>
            <a:ext cx="36576" cy="50292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2602382" y="2194560"/>
            <a:ext cx="201168" cy="164592"/>
          </a:xfrm>
          <a:prstGeom prst="ellipse">
            <a:avLst/>
          </a:prstGeom>
          <a:solidFill>
            <a:srgbClr val="CC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75116" y="4526280"/>
            <a:ext cx="1218895" cy="548640"/>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584563" y="4251960"/>
            <a:ext cx="853226" cy="411480"/>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38255" y="342900"/>
            <a:ext cx="975116" cy="1097280"/>
          </a:xfrm>
          <a:prstGeom prst="rect">
            <a:avLst/>
          </a:prstGeom>
          <a:noFill/>
        </p:spPr>
        <p:txBody>
          <a:bodyPr wrap="square">
            <a:spAutoFit/>
          </a:bodyPr>
          <a:lstStyle/>
          <a:p>
            <a:pPr algn="l"/>
            <a:r>
              <a:rPr sz="2600" b="1" i="0">
                <a:solidFill>
                  <a:srgbClr val="1A1A2E"/>
                </a:solidFill>
                <a:latin typeface="Microsoft YaHei"/>
              </a:rPr>
              <a:t>小满</a:t>
            </a:r>
          </a:p>
        </p:txBody>
      </p:sp>
      <p:sp>
        <p:nvSpPr>
          <p:cNvPr id="21" name="TextBox 20"/>
          <p:cNvSpPr txBox="1"/>
          <p:nvPr/>
        </p:nvSpPr>
        <p:spPr>
          <a:xfrm>
            <a:off x="7557150" y="342900"/>
            <a:ext cx="4144243" cy="480060"/>
          </a:xfrm>
          <a:prstGeom prst="rect">
            <a:avLst/>
          </a:prstGeom>
          <a:noFill/>
        </p:spPr>
        <p:txBody>
          <a:bodyPr wrap="square">
            <a:spAutoFit/>
          </a:bodyPr>
          <a:lstStyle/>
          <a:p>
            <a:pPr algn="l"/>
            <a:r>
              <a:rPr sz="1700" b="1" i="0">
                <a:solidFill>
                  <a:srgbClr val="2E7A3C"/>
                </a:solidFill>
                <a:latin typeface="Georgia"/>
              </a:rPr>
              <a:t>Grain Full</a:t>
            </a:r>
          </a:p>
        </p:txBody>
      </p:sp>
      <p:sp>
        <p:nvSpPr>
          <p:cNvPr id="22" name="TextBox 21"/>
          <p:cNvSpPr txBox="1"/>
          <p:nvPr/>
        </p:nvSpPr>
        <p:spPr>
          <a:xfrm>
            <a:off x="6338255" y="960120"/>
            <a:ext cx="5363138" cy="548640"/>
          </a:xfrm>
          <a:prstGeom prst="rect">
            <a:avLst/>
          </a:prstGeom>
          <a:noFill/>
        </p:spPr>
        <p:txBody>
          <a:bodyPr wrap="square">
            <a:spAutoFit/>
          </a:bodyPr>
          <a:lstStyle/>
          <a:p>
            <a:pPr algn="l"/>
            <a:r>
              <a:rPr sz="1200" b="0" i="1">
                <a:solidFill>
                  <a:srgbClr val="1A1A2E"/>
                </a:solidFill>
                <a:latin typeface="Georgia"/>
              </a:rPr>
              <a:t>Grains start to become full.</a:t>
            </a:r>
          </a:p>
        </p:txBody>
      </p:sp>
      <p:sp>
        <p:nvSpPr>
          <p:cNvPr id="23" name="Oval 22"/>
          <p:cNvSpPr/>
          <p:nvPr/>
        </p:nvSpPr>
        <p:spPr>
          <a:xfrm>
            <a:off x="8776045" y="1920240"/>
            <a:ext cx="640080" cy="640080"/>
          </a:xfrm>
          <a:prstGeom prst="ellipse">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9004645" y="2148840"/>
            <a:ext cx="182880" cy="182880"/>
          </a:xfrm>
          <a:prstGeom prst="ellipse">
            <a:avLst/>
          </a:prstGeom>
          <a:solidFill>
            <a:srgbClr val="AA55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96085" y="2240280"/>
            <a:ext cx="283464" cy="27432"/>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9096085" y="2240280"/>
            <a:ext cx="208473" cy="208473"/>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9096085" y="2240280"/>
            <a:ext cx="27432" cy="283464"/>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15043" y="2240280"/>
            <a:ext cx="208474" cy="208473"/>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6703923" y="3771900"/>
            <a:ext cx="36576" cy="256032"/>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6658203" y="3154680"/>
            <a:ext cx="128016"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57150" y="3771900"/>
            <a:ext cx="36576" cy="256032"/>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511430" y="3154680"/>
            <a:ext cx="128016"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532266" y="3771900"/>
            <a:ext cx="36576" cy="256032"/>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8486546" y="3154680"/>
            <a:ext cx="128016"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9994940" y="3771900"/>
            <a:ext cx="36576" cy="256032"/>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9949220" y="3154680"/>
            <a:ext cx="128016"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0726277" y="3771900"/>
            <a:ext cx="36576" cy="256032"/>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10680557" y="3154680"/>
            <a:ext cx="128016"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9ECA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714500"/>
          </a:xfrm>
          <a:prstGeom prst="rect">
            <a:avLst/>
          </a:prstGeom>
          <a:solidFill>
            <a:srgbClr val="A0CC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4937760"/>
            <a:ext cx="12188952" cy="192024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72586" y="342900"/>
            <a:ext cx="36576" cy="617220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668" y="274320"/>
            <a:ext cx="975116" cy="1508760"/>
          </a:xfrm>
          <a:prstGeom prst="rect">
            <a:avLst/>
          </a:prstGeom>
          <a:noFill/>
        </p:spPr>
        <p:txBody>
          <a:bodyPr wrap="square">
            <a:spAutoFit/>
          </a:bodyPr>
          <a:lstStyle/>
          <a:p>
            <a:pPr algn="l"/>
            <a:r>
              <a:rPr sz="2600" b="1" i="0">
                <a:solidFill>
                  <a:srgbClr val="1A1A2E"/>
                </a:solidFill>
                <a:latin typeface="Microsoft YaHei"/>
              </a:rPr>
              <a:t>芒
种</a:t>
            </a:r>
          </a:p>
        </p:txBody>
      </p:sp>
      <p:sp>
        <p:nvSpPr>
          <p:cNvPr id="7" name="TextBox 6"/>
          <p:cNvSpPr txBox="1"/>
          <p:nvPr/>
        </p:nvSpPr>
        <p:spPr>
          <a:xfrm>
            <a:off x="1462674" y="274320"/>
            <a:ext cx="4144243" cy="480060"/>
          </a:xfrm>
          <a:prstGeom prst="rect">
            <a:avLst/>
          </a:prstGeom>
          <a:noFill/>
        </p:spPr>
        <p:txBody>
          <a:bodyPr wrap="square">
            <a:spAutoFit/>
          </a:bodyPr>
          <a:lstStyle/>
          <a:p>
            <a:pPr algn="l"/>
            <a:r>
              <a:rPr sz="1700" b="1" i="0">
                <a:solidFill>
                  <a:srgbClr val="4A3010"/>
                </a:solidFill>
                <a:latin typeface="Georgia"/>
              </a:rPr>
              <a:t>Grain in Ear</a:t>
            </a:r>
          </a:p>
        </p:txBody>
      </p:sp>
      <p:sp>
        <p:nvSpPr>
          <p:cNvPr id="8" name="TextBox 7"/>
          <p:cNvSpPr txBox="1"/>
          <p:nvPr/>
        </p:nvSpPr>
        <p:spPr>
          <a:xfrm>
            <a:off x="1462674" y="891540"/>
            <a:ext cx="4144243" cy="548640"/>
          </a:xfrm>
          <a:prstGeom prst="rect">
            <a:avLst/>
          </a:prstGeom>
          <a:noFill/>
        </p:spPr>
        <p:txBody>
          <a:bodyPr wrap="square">
            <a:spAutoFit/>
          </a:bodyPr>
          <a:lstStyle/>
          <a:p>
            <a:pPr algn="l"/>
            <a:r>
              <a:rPr sz="1200" b="0" i="1">
                <a:solidFill>
                  <a:srgbClr val="1A1A2E"/>
                </a:solidFill>
                <a:latin typeface="Georgia"/>
              </a:rPr>
              <a:t>Best time for planting and harvesting.</a:t>
            </a:r>
          </a:p>
        </p:txBody>
      </p:sp>
      <p:sp>
        <p:nvSpPr>
          <p:cNvPr id="9" name="Rectangle 8"/>
          <p:cNvSpPr/>
          <p:nvPr/>
        </p:nvSpPr>
        <p:spPr>
          <a:xfrm>
            <a:off x="2194011" y="411480"/>
            <a:ext cx="109728" cy="36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681569" y="274320"/>
            <a:ext cx="109728" cy="36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6685" y="342900"/>
            <a:ext cx="109728" cy="36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8022" y="480060"/>
            <a:ext cx="109728" cy="36576"/>
          </a:xfrm>
          <a:prstGeom prst="rect">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65668" y="219456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0392" y="246888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975116" y="274320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279839" y="219456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584563" y="246888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889287" y="274320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2194011" y="219456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98735" y="246888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2803458" y="274320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3108182" y="219456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412906" y="246888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717630" y="274320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4022354" y="219456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27077" y="246888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631801" y="274320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4936525" y="219456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5241249" y="246888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545973" y="2743200"/>
            <a:ext cx="268156" cy="2057400"/>
          </a:xfrm>
          <a:prstGeom prst="rect">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1462674" y="4114800"/>
            <a:ext cx="731337" cy="960120"/>
          </a:xfrm>
          <a:prstGeom prst="ellipse">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584563" y="3840480"/>
            <a:ext cx="487558" cy="411480"/>
          </a:xfrm>
          <a:prstGeom prst="ellipse">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828342" y="3977639"/>
            <a:ext cx="128016" cy="36576"/>
          </a:xfrm>
          <a:prstGeom prst="rect">
            <a:avLst/>
          </a:prstGeom>
          <a:solidFill>
            <a:srgbClr val="F5AA2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751161" y="274320"/>
            <a:ext cx="2194011" cy="548640"/>
          </a:xfrm>
          <a:prstGeom prst="rect">
            <a:avLst/>
          </a:prstGeom>
          <a:noFill/>
        </p:spPr>
        <p:txBody>
          <a:bodyPr wrap="square">
            <a:spAutoFit/>
          </a:bodyPr>
          <a:lstStyle/>
          <a:p>
            <a:pPr algn="l"/>
            <a:r>
              <a:rPr sz="1400" b="1" i="0">
                <a:solidFill>
                  <a:srgbClr val="4A3010"/>
                </a:solidFill>
                <a:latin typeface="Georgia"/>
              </a:rPr>
              <a:t>Summer Solstice</a:t>
            </a:r>
          </a:p>
        </p:txBody>
      </p:sp>
      <p:sp>
        <p:nvSpPr>
          <p:cNvPr id="35" name="TextBox 34"/>
          <p:cNvSpPr txBox="1"/>
          <p:nvPr/>
        </p:nvSpPr>
        <p:spPr>
          <a:xfrm>
            <a:off x="9751161" y="891540"/>
            <a:ext cx="1218895" cy="1508760"/>
          </a:xfrm>
          <a:prstGeom prst="rect">
            <a:avLst/>
          </a:prstGeom>
          <a:noFill/>
        </p:spPr>
        <p:txBody>
          <a:bodyPr wrap="square">
            <a:spAutoFit/>
          </a:bodyPr>
          <a:lstStyle/>
          <a:p>
            <a:pPr algn="l"/>
            <a:r>
              <a:rPr sz="2600" b="1" i="0">
                <a:solidFill>
                  <a:srgbClr val="1A1A2E"/>
                </a:solidFill>
                <a:latin typeface="Microsoft YaHei"/>
              </a:rPr>
              <a:t>夏
至</a:t>
            </a:r>
          </a:p>
        </p:txBody>
      </p:sp>
      <p:sp>
        <p:nvSpPr>
          <p:cNvPr id="36" name="TextBox 35"/>
          <p:cNvSpPr txBox="1"/>
          <p:nvPr/>
        </p:nvSpPr>
        <p:spPr>
          <a:xfrm>
            <a:off x="6338255" y="891540"/>
            <a:ext cx="3169127" cy="548640"/>
          </a:xfrm>
          <a:prstGeom prst="rect">
            <a:avLst/>
          </a:prstGeom>
          <a:noFill/>
        </p:spPr>
        <p:txBody>
          <a:bodyPr wrap="square">
            <a:spAutoFit/>
          </a:bodyPr>
          <a:lstStyle/>
          <a:p>
            <a:pPr algn="l"/>
            <a:r>
              <a:rPr sz="1200" b="0" i="1">
                <a:solidFill>
                  <a:srgbClr val="1A1A2E"/>
                </a:solidFill>
                <a:latin typeface="Georgia"/>
              </a:rPr>
              <a:t>Longest day of the year.</a:t>
            </a:r>
          </a:p>
        </p:txBody>
      </p:sp>
      <p:sp>
        <p:nvSpPr>
          <p:cNvPr id="37" name="Oval 36"/>
          <p:cNvSpPr/>
          <p:nvPr/>
        </p:nvSpPr>
        <p:spPr>
          <a:xfrm>
            <a:off x="6338255" y="2057400"/>
            <a:ext cx="3412906" cy="2331720"/>
          </a:xfrm>
          <a:prstGeom prst="ellipse">
            <a:avLst/>
          </a:prstGeom>
          <a:solidFill>
            <a:srgbClr val="88CC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6582034" y="2468880"/>
            <a:ext cx="1218895" cy="685800"/>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7557150" y="1920240"/>
            <a:ext cx="1218895" cy="685800"/>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8532266" y="2606040"/>
            <a:ext cx="1218895" cy="685800"/>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7557150" y="1508760"/>
            <a:ext cx="731337" cy="548640"/>
          </a:xfrm>
          <a:prstGeom prst="ellipse">
            <a:avLst/>
          </a:prstGeom>
          <a:solidFill>
            <a:srgbClr val="B07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313371" y="1783080"/>
            <a:ext cx="487558" cy="411480"/>
          </a:xfrm>
          <a:prstGeom prst="ellipse">
            <a:avLst/>
          </a:prstGeom>
          <a:solidFill>
            <a:srgbClr val="F0A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8288487" y="1508760"/>
            <a:ext cx="487558" cy="411480"/>
          </a:xfrm>
          <a:prstGeom prst="ellipse">
            <a:avLst/>
          </a:prstGeom>
          <a:solidFill>
            <a:srgbClr val="F0A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7800929" y="1371600"/>
            <a:ext cx="487558" cy="411480"/>
          </a:xfrm>
          <a:prstGeom prst="ellipse">
            <a:avLst/>
          </a:prstGeom>
          <a:solidFill>
            <a:srgbClr val="F0A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7557150" y="1371600"/>
            <a:ext cx="487558" cy="411480"/>
          </a:xfrm>
          <a:prstGeom prst="ellipse">
            <a:avLst/>
          </a:prstGeom>
          <a:solidFill>
            <a:srgbClr val="F0A0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507382" y="3977639"/>
            <a:ext cx="609447" cy="41148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9385493" y="3771900"/>
            <a:ext cx="365668" cy="27432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9263603" y="3703320"/>
            <a:ext cx="73152" cy="54864"/>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9994940" y="3703320"/>
            <a:ext cx="73152" cy="54864"/>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6A3A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0" y="2057400"/>
            <a:ext cx="12188952" cy="3771900"/>
          </a:xfrm>
          <a:prstGeom prst="ellipse">
            <a:avLst/>
          </a:prstGeom>
          <a:solidFill>
            <a:srgbClr val="3AA8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143500"/>
            <a:ext cx="12188952" cy="1714500"/>
          </a:xfrm>
          <a:prstGeom prst="rect">
            <a:avLst/>
          </a:prstGeom>
          <a:solidFill>
            <a:srgbClr val="3AA8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5972586" y="342900"/>
            <a:ext cx="36576" cy="6172200"/>
          </a:xfrm>
          <a:prstGeom prst="rect">
            <a:avLst/>
          </a:prstGeom>
          <a:solidFill>
            <a:srgbClr val="B07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668" y="1783080"/>
            <a:ext cx="1462674" cy="548640"/>
          </a:xfrm>
          <a:prstGeom prst="rect">
            <a:avLst/>
          </a:prstGeom>
          <a:noFill/>
        </p:spPr>
        <p:txBody>
          <a:bodyPr wrap="square">
            <a:spAutoFit/>
          </a:bodyPr>
          <a:lstStyle/>
          <a:p>
            <a:pPr algn="l"/>
            <a:r>
              <a:rPr sz="2600" b="1" i="0">
                <a:solidFill>
                  <a:srgbClr val="FFFFFF"/>
                </a:solidFill>
                <a:latin typeface="Microsoft YaHei"/>
              </a:rPr>
              <a:t>小暑</a:t>
            </a:r>
          </a:p>
        </p:txBody>
      </p:sp>
      <p:sp>
        <p:nvSpPr>
          <p:cNvPr id="7" name="TextBox 6"/>
          <p:cNvSpPr txBox="1"/>
          <p:nvPr/>
        </p:nvSpPr>
        <p:spPr>
          <a:xfrm>
            <a:off x="365668" y="2400300"/>
            <a:ext cx="2681569" cy="548640"/>
          </a:xfrm>
          <a:prstGeom prst="rect">
            <a:avLst/>
          </a:prstGeom>
          <a:noFill/>
        </p:spPr>
        <p:txBody>
          <a:bodyPr wrap="square">
            <a:spAutoFit/>
          </a:bodyPr>
          <a:lstStyle/>
          <a:p>
            <a:pPr algn="l"/>
            <a:r>
              <a:rPr sz="1600" b="1" i="0">
                <a:solidFill>
                  <a:srgbClr val="FFFFFF"/>
                </a:solidFill>
                <a:latin typeface="Georgia"/>
              </a:rPr>
              <a:t>Minor Heat</a:t>
            </a:r>
          </a:p>
        </p:txBody>
      </p:sp>
      <p:sp>
        <p:nvSpPr>
          <p:cNvPr id="8" name="TextBox 7"/>
          <p:cNvSpPr txBox="1"/>
          <p:nvPr/>
        </p:nvSpPr>
        <p:spPr>
          <a:xfrm>
            <a:off x="365668" y="3017520"/>
            <a:ext cx="5241249" cy="548640"/>
          </a:xfrm>
          <a:prstGeom prst="rect">
            <a:avLst/>
          </a:prstGeom>
          <a:noFill/>
        </p:spPr>
        <p:txBody>
          <a:bodyPr wrap="square">
            <a:spAutoFit/>
          </a:bodyPr>
          <a:lstStyle/>
          <a:p>
            <a:pPr algn="l"/>
            <a:r>
              <a:rPr sz="1200" b="0" i="1">
                <a:solidFill>
                  <a:srgbClr val="EEEEFF"/>
                </a:solidFill>
                <a:latin typeface="Georgia"/>
              </a:rPr>
              <a:t>It becomes very hot.</a:t>
            </a:r>
          </a:p>
        </p:txBody>
      </p:sp>
      <p:sp>
        <p:nvSpPr>
          <p:cNvPr id="9" name="Rectangle 8"/>
          <p:cNvSpPr/>
          <p:nvPr/>
        </p:nvSpPr>
        <p:spPr>
          <a:xfrm>
            <a:off x="731337" y="2057400"/>
            <a:ext cx="91440" cy="475488"/>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243779" y="1097280"/>
            <a:ext cx="1706453" cy="1234440"/>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31337" y="685800"/>
            <a:ext cx="1218895" cy="96012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87558" y="4937760"/>
            <a:ext cx="731337" cy="548640"/>
          </a:xfrm>
          <a:prstGeom prst="ellipse">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09447" y="4663440"/>
            <a:ext cx="487558" cy="411480"/>
          </a:xfrm>
          <a:prstGeom prst="ellipse">
            <a:avLst/>
          </a:prstGeom>
          <a:solidFill>
            <a:srgbClr val="F0F0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047238" y="2606040"/>
            <a:ext cx="201168" cy="201168"/>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028950" y="2537460"/>
            <a:ext cx="237744" cy="109728"/>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038094" y="3154680"/>
            <a:ext cx="219456" cy="274320"/>
          </a:xfrm>
          <a:prstGeom prst="rect">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3175254" y="3200400"/>
            <a:ext cx="237744" cy="18288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3211830" y="3227832"/>
            <a:ext cx="128016" cy="109728"/>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482498" y="1783080"/>
            <a:ext cx="1462674" cy="1508760"/>
          </a:xfrm>
          <a:prstGeom prst="rect">
            <a:avLst/>
          </a:prstGeom>
          <a:noFill/>
        </p:spPr>
        <p:txBody>
          <a:bodyPr wrap="square">
            <a:spAutoFit/>
          </a:bodyPr>
          <a:lstStyle/>
          <a:p>
            <a:pPr algn="l"/>
            <a:r>
              <a:rPr sz="2600" b="1" i="0">
                <a:solidFill>
                  <a:srgbClr val="FFFFFF"/>
                </a:solidFill>
                <a:latin typeface="Microsoft YaHei"/>
              </a:rPr>
              <a:t>大
暑</a:t>
            </a:r>
          </a:p>
        </p:txBody>
      </p:sp>
      <p:sp>
        <p:nvSpPr>
          <p:cNvPr id="20" name="TextBox 19"/>
          <p:cNvSpPr txBox="1"/>
          <p:nvPr/>
        </p:nvSpPr>
        <p:spPr>
          <a:xfrm>
            <a:off x="6338255" y="342900"/>
            <a:ext cx="3412906" cy="480060"/>
          </a:xfrm>
          <a:prstGeom prst="rect">
            <a:avLst/>
          </a:prstGeom>
          <a:noFill/>
        </p:spPr>
        <p:txBody>
          <a:bodyPr wrap="square">
            <a:spAutoFit/>
          </a:bodyPr>
          <a:lstStyle/>
          <a:p>
            <a:pPr algn="l"/>
            <a:r>
              <a:rPr sz="1600" b="1" i="0">
                <a:solidFill>
                  <a:srgbClr val="FFFFFF"/>
                </a:solidFill>
                <a:latin typeface="Georgia"/>
              </a:rPr>
              <a:t>Major Heat</a:t>
            </a:r>
          </a:p>
        </p:txBody>
      </p:sp>
      <p:sp>
        <p:nvSpPr>
          <p:cNvPr id="21" name="TextBox 20"/>
          <p:cNvSpPr txBox="1"/>
          <p:nvPr/>
        </p:nvSpPr>
        <p:spPr>
          <a:xfrm>
            <a:off x="6338255" y="960120"/>
            <a:ext cx="3900464" cy="548640"/>
          </a:xfrm>
          <a:prstGeom prst="rect">
            <a:avLst/>
          </a:prstGeom>
          <a:noFill/>
        </p:spPr>
        <p:txBody>
          <a:bodyPr wrap="square">
            <a:spAutoFit/>
          </a:bodyPr>
          <a:lstStyle/>
          <a:p>
            <a:pPr algn="l"/>
            <a:r>
              <a:rPr sz="1200" b="0" i="1">
                <a:solidFill>
                  <a:srgbClr val="EEEEFF"/>
                </a:solidFill>
                <a:latin typeface="Georgia"/>
              </a:rPr>
              <a:t>The hottest time of year.</a:t>
            </a:r>
          </a:p>
        </p:txBody>
      </p:sp>
      <p:sp>
        <p:nvSpPr>
          <p:cNvPr id="22" name="Rectangle 21"/>
          <p:cNvSpPr/>
          <p:nvPr/>
        </p:nvSpPr>
        <p:spPr>
          <a:xfrm>
            <a:off x="7800929" y="548640"/>
            <a:ext cx="2925348" cy="150876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7557150" y="411480"/>
            <a:ext cx="3412906" cy="274320"/>
          </a:xfrm>
          <a:prstGeom prst="rect">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0650016" y="22860"/>
            <a:ext cx="640080" cy="640080"/>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6460144" y="5212080"/>
            <a:ext cx="731337" cy="54864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6582034" y="5280660"/>
            <a:ext cx="487558" cy="342900"/>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557150" y="5212080"/>
            <a:ext cx="731337" cy="54864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679039" y="5280660"/>
            <a:ext cx="487558" cy="342900"/>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8897934" y="5212080"/>
            <a:ext cx="731337" cy="54864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9019824" y="5280660"/>
            <a:ext cx="487558" cy="342900"/>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371600"/>
          </a:xfrm>
          <a:prstGeom prst="rect">
            <a:avLst/>
          </a:prstGeom>
          <a:solidFill>
            <a:srgbClr val="FFDD8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49240"/>
            <a:ext cx="12188952" cy="1508760"/>
          </a:xfrm>
          <a:prstGeom prst="rect">
            <a:avLst/>
          </a:prstGeom>
          <a:solidFill>
            <a:srgbClr val="FFCC6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3656685" y="4663440"/>
            <a:ext cx="4875580" cy="1371600"/>
          </a:xfrm>
          <a:prstGeom prst="ellipse">
            <a:avLst/>
          </a:prstGeom>
          <a:solidFill>
            <a:srgbClr val="FF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5838444" y="429768"/>
            <a:ext cx="512064" cy="512064"/>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65668" y="274320"/>
            <a:ext cx="2437790" cy="480060"/>
          </a:xfrm>
          <a:prstGeom prst="rect">
            <a:avLst/>
          </a:prstGeom>
          <a:noFill/>
        </p:spPr>
        <p:txBody>
          <a:bodyPr wrap="square">
            <a:spAutoFit/>
          </a:bodyPr>
          <a:lstStyle/>
          <a:p>
            <a:pPr algn="l"/>
            <a:r>
              <a:rPr sz="1600" b="1" i="0">
                <a:solidFill>
                  <a:srgbClr val="1A1A2E"/>
                </a:solidFill>
                <a:latin typeface="Microsoft YaHei"/>
              </a:rPr>
              <a:t>立秋  Start of Autumn</a:t>
            </a:r>
          </a:p>
        </p:txBody>
      </p:sp>
      <p:sp>
        <p:nvSpPr>
          <p:cNvPr id="8" name="TextBox 7"/>
          <p:cNvSpPr txBox="1"/>
          <p:nvPr/>
        </p:nvSpPr>
        <p:spPr>
          <a:xfrm>
            <a:off x="365668" y="822960"/>
            <a:ext cx="4266133" cy="480060"/>
          </a:xfrm>
          <a:prstGeom prst="rect">
            <a:avLst/>
          </a:prstGeom>
          <a:noFill/>
        </p:spPr>
        <p:txBody>
          <a:bodyPr wrap="square">
            <a:spAutoFit/>
          </a:bodyPr>
          <a:lstStyle/>
          <a:p>
            <a:pPr algn="l"/>
            <a:r>
              <a:rPr sz="1200" b="0" i="1">
                <a:solidFill>
                  <a:srgbClr val="4A3010"/>
                </a:solidFill>
                <a:latin typeface="Georgia"/>
              </a:rPr>
              <a:t>Autumn begins. It cools down.</a:t>
            </a:r>
          </a:p>
        </p:txBody>
      </p:sp>
      <p:sp>
        <p:nvSpPr>
          <p:cNvPr id="9" name="TextBox 8"/>
          <p:cNvSpPr txBox="1"/>
          <p:nvPr/>
        </p:nvSpPr>
        <p:spPr>
          <a:xfrm>
            <a:off x="7069592" y="274320"/>
            <a:ext cx="2437790" cy="480060"/>
          </a:xfrm>
          <a:prstGeom prst="rect">
            <a:avLst/>
          </a:prstGeom>
          <a:noFill/>
        </p:spPr>
        <p:txBody>
          <a:bodyPr wrap="square">
            <a:spAutoFit/>
          </a:bodyPr>
          <a:lstStyle/>
          <a:p>
            <a:pPr algn="l"/>
            <a:r>
              <a:rPr sz="1600" b="1" i="0">
                <a:solidFill>
                  <a:srgbClr val="1A1A2E"/>
                </a:solidFill>
                <a:latin typeface="Microsoft YaHei"/>
              </a:rPr>
              <a:t>处暑  End of Heat</a:t>
            </a:r>
          </a:p>
        </p:txBody>
      </p:sp>
      <p:sp>
        <p:nvSpPr>
          <p:cNvPr id="10" name="TextBox 9"/>
          <p:cNvSpPr txBox="1"/>
          <p:nvPr/>
        </p:nvSpPr>
        <p:spPr>
          <a:xfrm>
            <a:off x="7069592" y="822960"/>
            <a:ext cx="4875580" cy="480060"/>
          </a:xfrm>
          <a:prstGeom prst="rect">
            <a:avLst/>
          </a:prstGeom>
          <a:noFill/>
        </p:spPr>
        <p:txBody>
          <a:bodyPr wrap="square">
            <a:spAutoFit/>
          </a:bodyPr>
          <a:lstStyle/>
          <a:p>
            <a:pPr algn="l"/>
            <a:r>
              <a:rPr sz="1200" b="0" i="1">
                <a:solidFill>
                  <a:srgbClr val="4A3010"/>
                </a:solidFill>
                <a:latin typeface="Georgia"/>
              </a:rPr>
              <a:t>Hot days are over.</a:t>
            </a:r>
          </a:p>
        </p:txBody>
      </p:sp>
      <p:sp>
        <p:nvSpPr>
          <p:cNvPr id="11" name="TextBox 10"/>
          <p:cNvSpPr txBox="1"/>
          <p:nvPr/>
        </p:nvSpPr>
        <p:spPr>
          <a:xfrm>
            <a:off x="365668" y="3840480"/>
            <a:ext cx="2437790" cy="480060"/>
          </a:xfrm>
          <a:prstGeom prst="rect">
            <a:avLst/>
          </a:prstGeom>
          <a:noFill/>
        </p:spPr>
        <p:txBody>
          <a:bodyPr wrap="square">
            <a:spAutoFit/>
          </a:bodyPr>
          <a:lstStyle/>
          <a:p>
            <a:pPr algn="l"/>
            <a:r>
              <a:rPr sz="1500" b="1" i="0">
                <a:solidFill>
                  <a:srgbClr val="1A1A2E"/>
                </a:solidFill>
                <a:latin typeface="Microsoft YaHei"/>
              </a:rPr>
              <a:t>寒露  Cold Dew</a:t>
            </a:r>
          </a:p>
        </p:txBody>
      </p:sp>
      <p:sp>
        <p:nvSpPr>
          <p:cNvPr id="12" name="TextBox 11"/>
          <p:cNvSpPr txBox="1"/>
          <p:nvPr/>
        </p:nvSpPr>
        <p:spPr>
          <a:xfrm>
            <a:off x="365668" y="4389120"/>
            <a:ext cx="4266133" cy="480060"/>
          </a:xfrm>
          <a:prstGeom prst="rect">
            <a:avLst/>
          </a:prstGeom>
          <a:noFill/>
        </p:spPr>
        <p:txBody>
          <a:bodyPr wrap="square">
            <a:spAutoFit/>
          </a:bodyPr>
          <a:lstStyle/>
          <a:p>
            <a:pPr algn="l"/>
            <a:r>
              <a:rPr sz="1100" b="0" i="1">
                <a:solidFill>
                  <a:srgbClr val="4A3010"/>
                </a:solidFill>
                <a:latin typeface="Georgia"/>
              </a:rPr>
              <a:t>Dew turns cold.</a:t>
            </a:r>
          </a:p>
        </p:txBody>
      </p:sp>
      <p:sp>
        <p:nvSpPr>
          <p:cNvPr id="13" name="TextBox 12"/>
          <p:cNvSpPr txBox="1"/>
          <p:nvPr/>
        </p:nvSpPr>
        <p:spPr>
          <a:xfrm>
            <a:off x="7069592" y="3840480"/>
            <a:ext cx="2437790" cy="480060"/>
          </a:xfrm>
          <a:prstGeom prst="rect">
            <a:avLst/>
          </a:prstGeom>
          <a:noFill/>
        </p:spPr>
        <p:txBody>
          <a:bodyPr wrap="square">
            <a:spAutoFit/>
          </a:bodyPr>
          <a:lstStyle/>
          <a:p>
            <a:pPr algn="l"/>
            <a:r>
              <a:rPr sz="1500" b="1" i="0">
                <a:solidFill>
                  <a:srgbClr val="1A1A2E"/>
                </a:solidFill>
                <a:latin typeface="Microsoft YaHei"/>
              </a:rPr>
              <a:t>霜降  Frost's Descent</a:t>
            </a:r>
          </a:p>
        </p:txBody>
      </p:sp>
      <p:sp>
        <p:nvSpPr>
          <p:cNvPr id="14" name="TextBox 13"/>
          <p:cNvSpPr txBox="1"/>
          <p:nvPr/>
        </p:nvSpPr>
        <p:spPr>
          <a:xfrm>
            <a:off x="7069592" y="4389120"/>
            <a:ext cx="4875580" cy="480060"/>
          </a:xfrm>
          <a:prstGeom prst="rect">
            <a:avLst/>
          </a:prstGeom>
          <a:noFill/>
        </p:spPr>
        <p:txBody>
          <a:bodyPr wrap="square">
            <a:spAutoFit/>
          </a:bodyPr>
          <a:lstStyle/>
          <a:p>
            <a:pPr algn="l"/>
            <a:r>
              <a:rPr sz="1100" b="0" i="1">
                <a:solidFill>
                  <a:srgbClr val="4A3010"/>
                </a:solidFill>
                <a:latin typeface="Georgia"/>
              </a:rPr>
              <a:t>Frost comes. It gets cold.</a:t>
            </a:r>
          </a:p>
        </p:txBody>
      </p:sp>
      <p:sp>
        <p:nvSpPr>
          <p:cNvPr id="15" name="Rectangle 14"/>
          <p:cNvSpPr/>
          <p:nvPr/>
        </p:nvSpPr>
        <p:spPr>
          <a:xfrm>
            <a:off x="5972586" y="137160"/>
            <a:ext cx="36576" cy="6583680"/>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0" y="3429000"/>
            <a:ext cx="12188952" cy="36576"/>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75116" y="2057400"/>
            <a:ext cx="73152" cy="329184"/>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87558" y="1234440"/>
            <a:ext cx="1706453" cy="1097280"/>
          </a:xfrm>
          <a:prstGeom prst="ellipse">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853226" y="960120"/>
            <a:ext cx="1218895" cy="822960"/>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2437790" y="2057400"/>
            <a:ext cx="73152" cy="329184"/>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1950232" y="1234440"/>
            <a:ext cx="1706453" cy="1097280"/>
          </a:xfrm>
          <a:prstGeom prst="ellipse">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315900" y="960120"/>
            <a:ext cx="1218895" cy="822960"/>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1462674" y="1303020"/>
            <a:ext cx="201168" cy="201168"/>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462674" y="1851660"/>
            <a:ext cx="201168" cy="256032"/>
          </a:xfrm>
          <a:prstGeom prst="rect">
            <a:avLst/>
          </a:prstGeom>
          <a:solidFill>
            <a:srgbClr val="B07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700418" y="1440180"/>
            <a:ext cx="146304" cy="20116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682130" y="1997964"/>
            <a:ext cx="45720" cy="18288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810146" y="1997964"/>
            <a:ext cx="45720" cy="18288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7557150" y="1028700"/>
            <a:ext cx="201168" cy="201168"/>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7557150" y="1508760"/>
            <a:ext cx="201168" cy="256032"/>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7520574" y="822960"/>
            <a:ext cx="274320" cy="73152"/>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593726" y="411480"/>
            <a:ext cx="128016" cy="73152"/>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7776606" y="1563624"/>
            <a:ext cx="219456" cy="182880"/>
          </a:xfrm>
          <a:prstGeom prst="ellipse">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7794894" y="1545336"/>
            <a:ext cx="91440" cy="91440"/>
          </a:xfrm>
          <a:prstGeom prst="ellipse">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7849758" y="1545336"/>
            <a:ext cx="91440" cy="91440"/>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9751161" y="3634740"/>
            <a:ext cx="201168" cy="20116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778593" y="4114800"/>
            <a:ext cx="146304" cy="219456"/>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9604857" y="4151376"/>
            <a:ext cx="457200" cy="54864"/>
          </a:xfrm>
          <a:prstGeom prst="rect">
            <a:avLst/>
          </a:prstGeom>
          <a:solidFill>
            <a:srgbClr val="D46A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975116" y="3977639"/>
            <a:ext cx="36576" cy="128016"/>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609447" y="3703319"/>
            <a:ext cx="128016"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975116" y="4526280"/>
            <a:ext cx="36576" cy="128016"/>
          </a:xfrm>
          <a:prstGeom prst="rect">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09447" y="4251960"/>
            <a:ext cx="128016"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8532266" y="3840480"/>
            <a:ext cx="73152" cy="27432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922818" y="3017520"/>
            <a:ext cx="1706453" cy="1097280"/>
          </a:xfrm>
          <a:prstGeom prst="ellipse">
            <a:avLst/>
          </a:prstGeom>
          <a:solidFill>
            <a:srgbClr val="B07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Oval 43"/>
          <p:cNvSpPr/>
          <p:nvPr/>
        </p:nvSpPr>
        <p:spPr>
          <a:xfrm>
            <a:off x="8166597" y="2948940"/>
            <a:ext cx="91440" cy="100584"/>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Oval 44"/>
          <p:cNvSpPr/>
          <p:nvPr/>
        </p:nvSpPr>
        <p:spPr>
          <a:xfrm>
            <a:off x="8776045" y="2811780"/>
            <a:ext cx="91440" cy="100584"/>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263603" y="3017520"/>
            <a:ext cx="91440" cy="100584"/>
          </a:xfrm>
          <a:prstGeom prst="ellipse">
            <a:avLst/>
          </a:prstGeom>
          <a:solidFill>
            <a:srgbClr val="CC33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AACC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21889" y="274320"/>
            <a:ext cx="3900464" cy="6309360"/>
          </a:xfrm>
          <a:prstGeom prst="rect">
            <a:avLst/>
          </a:prstGeom>
          <a:solidFill>
            <a:srgbClr val="CCDDF5"/>
          </a:solidFill>
          <a:ln w="12700">
            <a:solidFill>
              <a:srgbClr val="2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266133" y="274320"/>
            <a:ext cx="3900464" cy="6309360"/>
          </a:xfrm>
          <a:prstGeom prst="rect">
            <a:avLst/>
          </a:prstGeom>
          <a:solidFill>
            <a:srgbClr val="DDEEFF"/>
          </a:solidFill>
          <a:ln w="12700">
            <a:solidFill>
              <a:srgbClr val="2A5C9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8410376" y="274320"/>
            <a:ext cx="3656685" cy="6309360"/>
          </a:xfrm>
          <a:prstGeom prst="rect">
            <a:avLst/>
          </a:prstGeom>
          <a:solidFill>
            <a:srgbClr val="FAF5E4"/>
          </a:solidFill>
          <a:ln w="12700">
            <a:solidFill>
              <a:srgbClr val="D46A1A"/>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668" y="411480"/>
            <a:ext cx="3412906" cy="480060"/>
          </a:xfrm>
          <a:prstGeom prst="rect">
            <a:avLst/>
          </a:prstGeom>
          <a:noFill/>
        </p:spPr>
        <p:txBody>
          <a:bodyPr wrap="square">
            <a:spAutoFit/>
          </a:bodyPr>
          <a:lstStyle/>
          <a:p>
            <a:pPr algn="l"/>
            <a:r>
              <a:rPr sz="1400" b="1" i="0">
                <a:solidFill>
                  <a:srgbClr val="1A1A2E"/>
                </a:solidFill>
                <a:latin typeface="Microsoft YaHei"/>
              </a:rPr>
              <a:t>立冬  Start of Winter</a:t>
            </a:r>
          </a:p>
        </p:txBody>
      </p:sp>
      <p:sp>
        <p:nvSpPr>
          <p:cNvPr id="7" name="TextBox 6"/>
          <p:cNvSpPr txBox="1"/>
          <p:nvPr/>
        </p:nvSpPr>
        <p:spPr>
          <a:xfrm>
            <a:off x="365668" y="960120"/>
            <a:ext cx="3412906" cy="411480"/>
          </a:xfrm>
          <a:prstGeom prst="rect">
            <a:avLst/>
          </a:prstGeom>
          <a:noFill/>
        </p:spPr>
        <p:txBody>
          <a:bodyPr wrap="square">
            <a:spAutoFit/>
          </a:bodyPr>
          <a:lstStyle/>
          <a:p>
            <a:pPr algn="l"/>
            <a:r>
              <a:rPr sz="1100" b="0" i="1">
                <a:solidFill>
                  <a:srgbClr val="4A3010"/>
                </a:solidFill>
                <a:latin typeface="Georgia"/>
              </a:rPr>
              <a:t>Winter comes.</a:t>
            </a:r>
          </a:p>
        </p:txBody>
      </p:sp>
      <p:sp>
        <p:nvSpPr>
          <p:cNvPr id="8" name="Oval 7"/>
          <p:cNvSpPr/>
          <p:nvPr/>
        </p:nvSpPr>
        <p:spPr>
          <a:xfrm>
            <a:off x="365668" y="1508760"/>
            <a:ext cx="201168" cy="201168"/>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365668" y="2057400"/>
            <a:ext cx="201168" cy="1783080"/>
          </a:xfrm>
          <a:prstGeom prst="rect">
            <a:avLst/>
          </a:prstGeom>
          <a:solidFill>
            <a:srgbClr val="AAC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097005" y="1371600"/>
            <a:ext cx="201168" cy="201168"/>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097005" y="1920240"/>
            <a:ext cx="201168" cy="1920240"/>
          </a:xfrm>
          <a:prstGeom prst="rect">
            <a:avLst/>
          </a:prstGeom>
          <a:solidFill>
            <a:srgbClr val="FFAA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1950232" y="1645920"/>
            <a:ext cx="201168" cy="201168"/>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950232" y="2194560"/>
            <a:ext cx="201168" cy="1508760"/>
          </a:xfrm>
          <a:prstGeom prst="rect">
            <a:avLst/>
          </a:prstGeom>
          <a:solidFill>
            <a:srgbClr val="AACC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87558" y="4251960"/>
            <a:ext cx="2681569" cy="54864"/>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609447" y="3840480"/>
            <a:ext cx="487558" cy="48755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218895" y="3840480"/>
            <a:ext cx="487558" cy="487558"/>
          </a:xfrm>
          <a:prstGeom prst="ellipse">
            <a:avLst/>
          </a:prstGeom>
          <a:solidFill>
            <a:srgbClr val="E8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1828342" y="3840480"/>
            <a:ext cx="487558" cy="487558"/>
          </a:xfrm>
          <a:prstGeom prst="ellipse">
            <a:avLst/>
          </a:prstGeom>
          <a:solidFill>
            <a:srgbClr val="F08C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2315900" y="3840480"/>
            <a:ext cx="487558" cy="487558"/>
          </a:xfrm>
          <a:prstGeom prst="ellipse">
            <a:avLst/>
          </a:prstGeom>
          <a:solidFill>
            <a:srgbClr val="2E7A3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668" y="5006340"/>
            <a:ext cx="3412906" cy="480060"/>
          </a:xfrm>
          <a:prstGeom prst="rect">
            <a:avLst/>
          </a:prstGeom>
          <a:noFill/>
        </p:spPr>
        <p:txBody>
          <a:bodyPr wrap="square">
            <a:spAutoFit/>
          </a:bodyPr>
          <a:lstStyle/>
          <a:p>
            <a:pPr algn="l"/>
            <a:r>
              <a:rPr sz="1400" b="1" i="0">
                <a:solidFill>
                  <a:srgbClr val="1A1A2E"/>
                </a:solidFill>
                <a:latin typeface="Microsoft YaHei"/>
              </a:rPr>
              <a:t>小雪  Minor Snow</a:t>
            </a:r>
          </a:p>
        </p:txBody>
      </p:sp>
      <p:sp>
        <p:nvSpPr>
          <p:cNvPr id="20" name="TextBox 19"/>
          <p:cNvSpPr txBox="1"/>
          <p:nvPr/>
        </p:nvSpPr>
        <p:spPr>
          <a:xfrm>
            <a:off x="365668" y="5554980"/>
            <a:ext cx="3412906" cy="411480"/>
          </a:xfrm>
          <a:prstGeom prst="rect">
            <a:avLst/>
          </a:prstGeom>
          <a:noFill/>
        </p:spPr>
        <p:txBody>
          <a:bodyPr wrap="square">
            <a:spAutoFit/>
          </a:bodyPr>
          <a:lstStyle/>
          <a:p>
            <a:pPr algn="l"/>
            <a:r>
              <a:rPr sz="1100" b="0" i="1">
                <a:solidFill>
                  <a:srgbClr val="4A3010"/>
                </a:solidFill>
                <a:latin typeface="Georgia"/>
              </a:rPr>
              <a:t>Light snow falls.</a:t>
            </a:r>
          </a:p>
        </p:txBody>
      </p:sp>
      <p:sp>
        <p:nvSpPr>
          <p:cNvPr id="21" name="Rectangle 20"/>
          <p:cNvSpPr/>
          <p:nvPr/>
        </p:nvSpPr>
        <p:spPr>
          <a:xfrm>
            <a:off x="3047238" y="2743200"/>
            <a:ext cx="64008" cy="365760"/>
          </a:xfrm>
          <a:prstGeom prst="rect">
            <a:avLst/>
          </a:prstGeom>
          <a:solidFill>
            <a:srgbClr val="4A301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2681569" y="1783080"/>
            <a:ext cx="1218895" cy="1234440"/>
          </a:xfrm>
          <a:prstGeom prst="ellipse">
            <a:avLst/>
          </a:prstGeom>
          <a:solidFill>
            <a:srgbClr val="5AA8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2803458" y="1508760"/>
            <a:ext cx="975116" cy="685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1173175" y="146304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Oval 24"/>
          <p:cNvSpPr/>
          <p:nvPr/>
        </p:nvSpPr>
        <p:spPr>
          <a:xfrm>
            <a:off x="1904512" y="118872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2879628" y="1943099"/>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29396" y="201168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09912" y="411480"/>
            <a:ext cx="3412906" cy="480060"/>
          </a:xfrm>
          <a:prstGeom prst="rect">
            <a:avLst/>
          </a:prstGeom>
          <a:noFill/>
        </p:spPr>
        <p:txBody>
          <a:bodyPr wrap="square">
            <a:spAutoFit/>
          </a:bodyPr>
          <a:lstStyle/>
          <a:p>
            <a:pPr algn="l"/>
            <a:r>
              <a:rPr sz="1400" b="1" i="0">
                <a:solidFill>
                  <a:srgbClr val="1A1A2E"/>
                </a:solidFill>
                <a:latin typeface="Microsoft YaHei"/>
              </a:rPr>
              <a:t>大雪  Major Snow</a:t>
            </a:r>
          </a:p>
        </p:txBody>
      </p:sp>
      <p:sp>
        <p:nvSpPr>
          <p:cNvPr id="29" name="TextBox 28"/>
          <p:cNvSpPr txBox="1"/>
          <p:nvPr/>
        </p:nvSpPr>
        <p:spPr>
          <a:xfrm>
            <a:off x="4509912" y="960120"/>
            <a:ext cx="3412906" cy="411480"/>
          </a:xfrm>
          <a:prstGeom prst="rect">
            <a:avLst/>
          </a:prstGeom>
          <a:noFill/>
        </p:spPr>
        <p:txBody>
          <a:bodyPr wrap="square">
            <a:spAutoFit/>
          </a:bodyPr>
          <a:lstStyle/>
          <a:p>
            <a:pPr algn="l"/>
            <a:r>
              <a:rPr sz="1100" b="0" i="1">
                <a:solidFill>
                  <a:srgbClr val="4A3010"/>
                </a:solidFill>
                <a:latin typeface="Georgia"/>
              </a:rPr>
              <a:t>Heavy snow covers the ground.</a:t>
            </a:r>
          </a:p>
        </p:txBody>
      </p:sp>
      <p:sp>
        <p:nvSpPr>
          <p:cNvPr id="30" name="Rectangle 29"/>
          <p:cNvSpPr/>
          <p:nvPr/>
        </p:nvSpPr>
        <p:spPr>
          <a:xfrm>
            <a:off x="4631801" y="2606040"/>
            <a:ext cx="1950232" cy="1234440"/>
          </a:xfrm>
          <a:prstGeom prst="rect">
            <a:avLst/>
          </a:prstGeom>
          <a:solidFill>
            <a:srgbClr val="AABB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388022" y="2057400"/>
            <a:ext cx="2437790" cy="685800"/>
          </a:xfrm>
          <a:prstGeom prst="rect">
            <a:avLst/>
          </a:prstGeom>
          <a:solidFill>
            <a:srgbClr val="8899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4266133" y="1783080"/>
            <a:ext cx="2681569" cy="68580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4875580" y="2811780"/>
            <a:ext cx="487558" cy="34290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5728807" y="2811780"/>
            <a:ext cx="487558" cy="342900"/>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094476" y="2743200"/>
            <a:ext cx="731337" cy="685800"/>
          </a:xfrm>
          <a:prstGeom prst="ellipse">
            <a:avLst/>
          </a:prstGeom>
          <a:solidFill>
            <a:srgbClr val="EE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Oval 35"/>
          <p:cNvSpPr/>
          <p:nvPr/>
        </p:nvSpPr>
        <p:spPr>
          <a:xfrm>
            <a:off x="6216365" y="2331720"/>
            <a:ext cx="548502" cy="548640"/>
          </a:xfrm>
          <a:prstGeom prst="ellipse">
            <a:avLst/>
          </a:prstGeom>
          <a:solidFill>
            <a:srgbClr val="EEEE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277310" y="2125980"/>
            <a:ext cx="304723" cy="274320"/>
          </a:xfrm>
          <a:prstGeom prst="rect">
            <a:avLst/>
          </a:prstGeom>
          <a:solidFill>
            <a:srgbClr val="2A5C9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Oval 37"/>
          <p:cNvSpPr/>
          <p:nvPr/>
        </p:nvSpPr>
        <p:spPr>
          <a:xfrm>
            <a:off x="4829860" y="146304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Oval 38"/>
          <p:cNvSpPr/>
          <p:nvPr/>
        </p:nvSpPr>
        <p:spPr>
          <a:xfrm>
            <a:off x="5317418" y="118872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6292535" y="160020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Oval 40"/>
          <p:cNvSpPr/>
          <p:nvPr/>
        </p:nvSpPr>
        <p:spPr>
          <a:xfrm>
            <a:off x="6901982" y="132588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267651" y="1874520"/>
            <a:ext cx="91440" cy="91440"/>
          </a:xfrm>
          <a:prstGeom prst="ellipse">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509912" y="4114800"/>
            <a:ext cx="3412906" cy="480060"/>
          </a:xfrm>
          <a:prstGeom prst="rect">
            <a:avLst/>
          </a:prstGeom>
          <a:noFill/>
        </p:spPr>
        <p:txBody>
          <a:bodyPr wrap="square">
            <a:spAutoFit/>
          </a:bodyPr>
          <a:lstStyle/>
          <a:p>
            <a:pPr algn="l"/>
            <a:r>
              <a:rPr sz="1400" b="1" i="0">
                <a:solidFill>
                  <a:srgbClr val="1A1A2E"/>
                </a:solidFill>
                <a:latin typeface="Microsoft YaHei"/>
              </a:rPr>
              <a:t>冬至  Winter Solstice</a:t>
            </a:r>
          </a:p>
        </p:txBody>
      </p:sp>
      <p:sp>
        <p:nvSpPr>
          <p:cNvPr id="44" name="TextBox 43"/>
          <p:cNvSpPr txBox="1"/>
          <p:nvPr/>
        </p:nvSpPr>
        <p:spPr>
          <a:xfrm>
            <a:off x="4509912" y="4663440"/>
            <a:ext cx="3412906" cy="411480"/>
          </a:xfrm>
          <a:prstGeom prst="rect">
            <a:avLst/>
          </a:prstGeom>
          <a:noFill/>
        </p:spPr>
        <p:txBody>
          <a:bodyPr wrap="square">
            <a:spAutoFit/>
          </a:bodyPr>
          <a:lstStyle/>
          <a:p>
            <a:pPr algn="l"/>
            <a:r>
              <a:rPr sz="1100" b="0" i="1">
                <a:solidFill>
                  <a:srgbClr val="4A3010"/>
                </a:solidFill>
                <a:latin typeface="Georgia"/>
              </a:rPr>
              <a:t>Longest night of the year.</a:t>
            </a:r>
          </a:p>
        </p:txBody>
      </p:sp>
      <p:sp>
        <p:nvSpPr>
          <p:cNvPr id="45" name="Rectangle 44"/>
          <p:cNvSpPr/>
          <p:nvPr/>
        </p:nvSpPr>
        <p:spPr>
          <a:xfrm>
            <a:off x="4631801" y="5212080"/>
            <a:ext cx="2194011" cy="36576"/>
          </a:xfrm>
          <a:prstGeom prst="rect">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4753691" y="5006340"/>
            <a:ext cx="365668" cy="54864"/>
          </a:xfrm>
          <a:prstGeom prst="ellipse">
            <a:avLst/>
          </a:prstGeom>
          <a:solidFill>
            <a:srgbClr val="FFF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5241249" y="5006340"/>
            <a:ext cx="365668" cy="54864"/>
          </a:xfrm>
          <a:prstGeom prst="ellipse">
            <a:avLst/>
          </a:prstGeom>
          <a:solidFill>
            <a:srgbClr val="FFF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Oval 47"/>
          <p:cNvSpPr/>
          <p:nvPr/>
        </p:nvSpPr>
        <p:spPr>
          <a:xfrm>
            <a:off x="5728807" y="5006340"/>
            <a:ext cx="365668" cy="54864"/>
          </a:xfrm>
          <a:prstGeom prst="ellipse">
            <a:avLst/>
          </a:prstGeom>
          <a:solidFill>
            <a:srgbClr val="FFF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Oval 48"/>
          <p:cNvSpPr/>
          <p:nvPr/>
        </p:nvSpPr>
        <p:spPr>
          <a:xfrm>
            <a:off x="6216365" y="5006340"/>
            <a:ext cx="365668" cy="54864"/>
          </a:xfrm>
          <a:prstGeom prst="ellipse">
            <a:avLst/>
          </a:prstGeom>
          <a:solidFill>
            <a:srgbClr val="FFFFD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Oval 49"/>
          <p:cNvSpPr/>
          <p:nvPr/>
        </p:nvSpPr>
        <p:spPr>
          <a:xfrm>
            <a:off x="6947702" y="3977640"/>
            <a:ext cx="164592" cy="164592"/>
          </a:xfrm>
          <a:prstGeom prst="ellipse">
            <a:avLst/>
          </a:prstGeom>
          <a:solidFill>
            <a:srgbClr val="FFCC9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6947702" y="4389120"/>
            <a:ext cx="164592" cy="201168"/>
          </a:xfrm>
          <a:prstGeom prst="rect">
            <a:avLst/>
          </a:prstGeom>
          <a:solidFill>
            <a:srgbClr val="FF88A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654155" y="411480"/>
            <a:ext cx="3169127" cy="480060"/>
          </a:xfrm>
          <a:prstGeom prst="rect">
            <a:avLst/>
          </a:prstGeom>
          <a:noFill/>
        </p:spPr>
        <p:txBody>
          <a:bodyPr wrap="square">
            <a:spAutoFit/>
          </a:bodyPr>
          <a:lstStyle/>
          <a:p>
            <a:pPr algn="l"/>
            <a:r>
              <a:rPr sz="1400" b="1" i="0">
                <a:solidFill>
                  <a:srgbClr val="1A1A2E"/>
                </a:solidFill>
                <a:latin typeface="Microsoft YaHei"/>
              </a:rPr>
              <a:t>二十四节气的传承</a:t>
            </a:r>
          </a:p>
        </p:txBody>
      </p:sp>
      <p:sp>
        <p:nvSpPr>
          <p:cNvPr id="53" name="TextBox 52"/>
          <p:cNvSpPr txBox="1"/>
          <p:nvPr/>
        </p:nvSpPr>
        <p:spPr>
          <a:xfrm>
            <a:off x="8654155" y="1028700"/>
            <a:ext cx="3169127" cy="2194560"/>
          </a:xfrm>
          <a:prstGeom prst="rect">
            <a:avLst/>
          </a:prstGeom>
          <a:noFill/>
        </p:spPr>
        <p:txBody>
          <a:bodyPr wrap="square">
            <a:spAutoFit/>
          </a:bodyPr>
          <a:lstStyle/>
          <a:p>
            <a:pPr algn="l"/>
            <a:r>
              <a:rPr sz="1100" b="0" i="0">
                <a:solidFill>
                  <a:srgbClr val="1A1A2E"/>
                </a:solidFill>
                <a:latin typeface="Georgia"/>
              </a:rPr>
              <a:t>The 24 Solar Terms are the wisdom of ancient Chinese people. They have been passed down from generation to generation.
It is China's World Cultural Heritage that we should inherit and carry forward.</a:t>
            </a:r>
          </a:p>
        </p:txBody>
      </p:sp>
      <p:sp>
        <p:nvSpPr>
          <p:cNvPr id="54" name="TextBox 53"/>
          <p:cNvSpPr txBox="1"/>
          <p:nvPr/>
        </p:nvSpPr>
        <p:spPr>
          <a:xfrm>
            <a:off x="8654155" y="3429000"/>
            <a:ext cx="3169127" cy="480060"/>
          </a:xfrm>
          <a:prstGeom prst="rect">
            <a:avLst/>
          </a:prstGeom>
          <a:noFill/>
        </p:spPr>
        <p:txBody>
          <a:bodyPr wrap="square">
            <a:spAutoFit/>
          </a:bodyPr>
          <a:lstStyle/>
          <a:p>
            <a:pPr algn="l"/>
            <a:r>
              <a:rPr sz="1400" b="1" i="0">
                <a:solidFill>
                  <a:srgbClr val="1A1A2E"/>
                </a:solidFill>
                <a:latin typeface="Microsoft YaHei"/>
              </a:rPr>
              <a:t>二十四节气的影响</a:t>
            </a:r>
          </a:p>
        </p:txBody>
      </p:sp>
      <p:sp>
        <p:nvSpPr>
          <p:cNvPr id="55" name="TextBox 54"/>
          <p:cNvSpPr txBox="1"/>
          <p:nvPr/>
        </p:nvSpPr>
        <p:spPr>
          <a:xfrm>
            <a:off x="8654155" y="3977639"/>
            <a:ext cx="3169127" cy="2057400"/>
          </a:xfrm>
          <a:prstGeom prst="rect">
            <a:avLst/>
          </a:prstGeom>
          <a:noFill/>
        </p:spPr>
        <p:txBody>
          <a:bodyPr wrap="square">
            <a:spAutoFit/>
          </a:bodyPr>
          <a:lstStyle/>
          <a:p>
            <a:pPr algn="l"/>
            <a:r>
              <a:rPr sz="1100" b="0" i="0">
                <a:solidFill>
                  <a:srgbClr val="1A1A2E"/>
                </a:solidFill>
                <a:latin typeface="Georgia"/>
              </a:rPr>
              <a:t>The 24 Solar Terms guide farming and show the changes of seasons. They influence our food, clothes and daily life, and are closely connected with nature.</a:t>
            </a:r>
          </a:p>
        </p:txBody>
      </p:sp>
      <p:sp>
        <p:nvSpPr>
          <p:cNvPr id="56" name="Oval 55"/>
          <p:cNvSpPr/>
          <p:nvPr/>
        </p:nvSpPr>
        <p:spPr>
          <a:xfrm>
            <a:off x="10116830" y="3154680"/>
            <a:ext cx="164592" cy="109728"/>
          </a:xfrm>
          <a:prstGeom prst="ellipse">
            <a:avLst/>
          </a:prstGeom>
          <a:solidFill>
            <a:srgbClr val="B07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Oval 56"/>
          <p:cNvSpPr/>
          <p:nvPr/>
        </p:nvSpPr>
        <p:spPr>
          <a:xfrm>
            <a:off x="10604388" y="3154680"/>
            <a:ext cx="164592" cy="109728"/>
          </a:xfrm>
          <a:prstGeom prst="ellipse">
            <a:avLst/>
          </a:prstGeom>
          <a:solidFill>
            <a:srgbClr val="B07AD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Oval 57"/>
          <p:cNvSpPr/>
          <p:nvPr/>
        </p:nvSpPr>
        <p:spPr>
          <a:xfrm>
            <a:off x="10360609" y="3017520"/>
            <a:ext cx="54864" cy="146304"/>
          </a:xfrm>
          <a:prstGeom prst="ellipse">
            <a:avLst/>
          </a:prstGeom>
          <a:solidFill>
            <a:srgbClr val="1A1A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Oval 58"/>
          <p:cNvSpPr/>
          <p:nvPr/>
        </p:nvSpPr>
        <p:spPr>
          <a:xfrm>
            <a:off x="10726277" y="5897880"/>
            <a:ext cx="182880" cy="128016"/>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Oval 59"/>
          <p:cNvSpPr/>
          <p:nvPr/>
        </p:nvSpPr>
        <p:spPr>
          <a:xfrm>
            <a:off x="10848167" y="5623560"/>
            <a:ext cx="128016" cy="109728"/>
          </a:xfrm>
          <a:prstGeom prst="ellipse">
            <a:avLst/>
          </a:prstGeom>
          <a:solidFill>
            <a:srgbClr val="F5D36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